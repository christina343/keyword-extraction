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DM Sans" pitchFamily="2" charset="0"/>
      <p:regular r:id="rId11"/>
    </p:embeddedFont>
    <p:embeddedFont>
      <p:font typeface="DM Sans Bold" panose="020B0604020202020204" charset="0"/>
      <p:regular r:id="rId12"/>
    </p:embeddedFont>
    <p:embeddedFont>
      <p:font typeface="Georgia" panose="02040502050405020303" pitchFamily="18" charset="0"/>
      <p:regular r:id="rId13"/>
      <p:bold r:id="rId14"/>
      <p:italic r:id="rId15"/>
      <p:bold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E8FC"/>
        </a:solidFill>
        <a:effectLst/>
      </p:bgPr>
    </p:bg>
    <p:spTree>
      <p:nvGrpSpPr>
        <p:cNvPr id="1" name=""/>
        <p:cNvGrpSpPr/>
        <p:nvPr/>
      </p:nvGrpSpPr>
      <p:grpSpPr>
        <a:xfrm>
          <a:off x="0" y="0"/>
          <a:ext cx="0" cy="0"/>
          <a:chOff x="0" y="0"/>
          <a:chExt cx="0" cy="0"/>
        </a:xfrm>
      </p:grpSpPr>
      <p:sp>
        <p:nvSpPr>
          <p:cNvPr id="2" name="Freeform 2"/>
          <p:cNvSpPr/>
          <p:nvPr/>
        </p:nvSpPr>
        <p:spPr>
          <a:xfrm rot="-5400000" flipH="1">
            <a:off x="10762089" y="1631995"/>
            <a:ext cx="416358" cy="471186"/>
          </a:xfrm>
          <a:custGeom>
            <a:avLst/>
            <a:gdLst/>
            <a:ahLst/>
            <a:cxnLst/>
            <a:rect l="l" t="t" r="r" b="b"/>
            <a:pathLst>
              <a:path w="416358" h="471186">
                <a:moveTo>
                  <a:pt x="416358" y="0"/>
                </a:moveTo>
                <a:lnTo>
                  <a:pt x="0" y="0"/>
                </a:lnTo>
                <a:lnTo>
                  <a:pt x="0" y="471186"/>
                </a:lnTo>
                <a:lnTo>
                  <a:pt x="416358" y="471186"/>
                </a:lnTo>
                <a:lnTo>
                  <a:pt x="416358" y="0"/>
                </a:lnTo>
                <a:close/>
              </a:path>
            </a:pathLst>
          </a:custGeom>
          <a:blipFill>
            <a:blip r:embed="rId2">
              <a:extLst>
                <a:ext uri="{96DAC541-7B7A-43D3-8B79-37D633B846F1}">
                  <asvg:svgBlip xmlns:asvg="http://schemas.microsoft.com/office/drawing/2016/SVG/main" r:embed="rId3"/>
                </a:ext>
              </a:extLst>
            </a:blip>
            <a:stretch>
              <a:fillRect t="-206" b="-206"/>
            </a:stretch>
          </a:blipFill>
        </p:spPr>
      </p:sp>
      <p:sp>
        <p:nvSpPr>
          <p:cNvPr id="3" name="TextBox 3"/>
          <p:cNvSpPr txBox="1"/>
          <p:nvPr/>
        </p:nvSpPr>
        <p:spPr>
          <a:xfrm>
            <a:off x="11340678" y="1657350"/>
            <a:ext cx="6280572" cy="418416"/>
          </a:xfrm>
          <a:prstGeom prst="rect">
            <a:avLst/>
          </a:prstGeom>
        </p:spPr>
        <p:txBody>
          <a:bodyPr lIns="0" tIns="0" rIns="0" bIns="0" rtlCol="0" anchor="t">
            <a:spAutoFit/>
          </a:bodyPr>
          <a:lstStyle/>
          <a:p>
            <a:pPr algn="l">
              <a:lnSpc>
                <a:spcPts val="3555"/>
              </a:lnSpc>
            </a:pPr>
            <a:r>
              <a:rPr lang="en-US" sz="3864" spc="-77">
                <a:solidFill>
                  <a:srgbClr val="6E91C4"/>
                </a:solidFill>
                <a:latin typeface="Georgia"/>
                <a:ea typeface="Georgia"/>
                <a:cs typeface="Georgia"/>
                <a:sym typeface="Georgia"/>
              </a:rPr>
              <a:t>Keyword Extraction</a:t>
            </a:r>
          </a:p>
        </p:txBody>
      </p:sp>
      <p:grpSp>
        <p:nvGrpSpPr>
          <p:cNvPr id="4" name="Group 4"/>
          <p:cNvGrpSpPr/>
          <p:nvPr/>
        </p:nvGrpSpPr>
        <p:grpSpPr>
          <a:xfrm>
            <a:off x="0" y="1562100"/>
            <a:ext cx="10075289" cy="6716860"/>
            <a:chOff x="0" y="0"/>
            <a:chExt cx="13433719" cy="8955813"/>
          </a:xfrm>
        </p:grpSpPr>
        <p:sp>
          <p:nvSpPr>
            <p:cNvPr id="5" name="Freeform 5"/>
            <p:cNvSpPr/>
            <p:nvPr/>
          </p:nvSpPr>
          <p:spPr>
            <a:xfrm>
              <a:off x="0" y="0"/>
              <a:ext cx="13433679" cy="8955786"/>
            </a:xfrm>
            <a:custGeom>
              <a:avLst/>
              <a:gdLst/>
              <a:ahLst/>
              <a:cxnLst/>
              <a:rect l="l" t="t" r="r" b="b"/>
              <a:pathLst>
                <a:path w="13433679" h="8955786">
                  <a:moveTo>
                    <a:pt x="0" y="0"/>
                  </a:moveTo>
                  <a:lnTo>
                    <a:pt x="13433679" y="0"/>
                  </a:lnTo>
                  <a:lnTo>
                    <a:pt x="13433679" y="8955786"/>
                  </a:lnTo>
                  <a:lnTo>
                    <a:pt x="0" y="8955786"/>
                  </a:lnTo>
                  <a:lnTo>
                    <a:pt x="0" y="0"/>
                  </a:lnTo>
                  <a:close/>
                </a:path>
              </a:pathLst>
            </a:custGeom>
            <a:blipFill>
              <a:blip r:embed="rId4"/>
              <a:stretch>
                <a:fillRect t="-40" b="-40"/>
              </a:stretch>
            </a:blipFill>
          </p:spPr>
        </p:sp>
      </p:grpSp>
      <p:sp>
        <p:nvSpPr>
          <p:cNvPr id="6" name="TextBox 6"/>
          <p:cNvSpPr txBox="1"/>
          <p:nvPr/>
        </p:nvSpPr>
        <p:spPr>
          <a:xfrm>
            <a:off x="10734675" y="3387755"/>
            <a:ext cx="6886575" cy="3692464"/>
          </a:xfrm>
          <a:prstGeom prst="rect">
            <a:avLst/>
          </a:prstGeom>
        </p:spPr>
        <p:txBody>
          <a:bodyPr lIns="0" tIns="0" rIns="0" bIns="0" rtlCol="0" anchor="t">
            <a:spAutoFit/>
          </a:bodyPr>
          <a:lstStyle/>
          <a:p>
            <a:pPr algn="l">
              <a:lnSpc>
                <a:spcPts val="9999"/>
              </a:lnSpc>
            </a:pPr>
            <a:r>
              <a:rPr lang="en-US" sz="9999">
                <a:solidFill>
                  <a:srgbClr val="3B4D6B"/>
                </a:solidFill>
                <a:latin typeface="Georgia"/>
                <a:ea typeface="Georgia"/>
                <a:cs typeface="Georgia"/>
                <a:sym typeface="Georgia"/>
              </a:rPr>
              <a:t>Navigating the Data Labyrinth</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E8FC"/>
        </a:solidFill>
        <a:effectLst/>
      </p:bgPr>
    </p:bg>
    <p:spTree>
      <p:nvGrpSpPr>
        <p:cNvPr id="1" name=""/>
        <p:cNvGrpSpPr/>
        <p:nvPr/>
      </p:nvGrpSpPr>
      <p:grpSpPr>
        <a:xfrm>
          <a:off x="0" y="0"/>
          <a:ext cx="0" cy="0"/>
          <a:chOff x="0" y="0"/>
          <a:chExt cx="0" cy="0"/>
        </a:xfrm>
      </p:grpSpPr>
      <p:sp>
        <p:nvSpPr>
          <p:cNvPr id="2" name="TextBox 2"/>
          <p:cNvSpPr txBox="1"/>
          <p:nvPr/>
        </p:nvSpPr>
        <p:spPr>
          <a:xfrm>
            <a:off x="3883917" y="3520146"/>
            <a:ext cx="10520166" cy="3189558"/>
          </a:xfrm>
          <a:prstGeom prst="rect">
            <a:avLst/>
          </a:prstGeom>
        </p:spPr>
        <p:txBody>
          <a:bodyPr lIns="0" tIns="0" rIns="0" bIns="0" rtlCol="0" anchor="t">
            <a:spAutoFit/>
          </a:bodyPr>
          <a:lstStyle/>
          <a:p>
            <a:pPr algn="l">
              <a:lnSpc>
                <a:spcPts val="5086"/>
              </a:lnSpc>
            </a:pPr>
            <a:r>
              <a:rPr lang="en-US" sz="3633">
                <a:solidFill>
                  <a:srgbClr val="3B4D6B"/>
                </a:solidFill>
                <a:latin typeface="DM Sans"/>
                <a:ea typeface="DM Sans"/>
                <a:cs typeface="DM Sans"/>
                <a:sym typeface="DM Sans"/>
              </a:rPr>
              <a:t>Meet Jaiswal                           - AP23110010913 </a:t>
            </a:r>
          </a:p>
          <a:p>
            <a:pPr algn="l">
              <a:lnSpc>
                <a:spcPts val="5086"/>
              </a:lnSpc>
            </a:pPr>
            <a:r>
              <a:rPr lang="en-US" sz="3633">
                <a:solidFill>
                  <a:srgbClr val="3B4D6B"/>
                </a:solidFill>
                <a:latin typeface="DM Sans"/>
                <a:ea typeface="DM Sans"/>
                <a:cs typeface="DM Sans"/>
                <a:sym typeface="DM Sans"/>
              </a:rPr>
              <a:t>Yasodhar Gubba                    - AP23110010512 </a:t>
            </a:r>
          </a:p>
          <a:p>
            <a:pPr algn="l">
              <a:lnSpc>
                <a:spcPts val="5086"/>
              </a:lnSpc>
            </a:pPr>
            <a:r>
              <a:rPr lang="en-US" sz="3633">
                <a:solidFill>
                  <a:srgbClr val="3B4D6B"/>
                </a:solidFill>
                <a:latin typeface="DM Sans"/>
                <a:ea typeface="DM Sans"/>
                <a:cs typeface="DM Sans"/>
                <a:sym typeface="DM Sans"/>
              </a:rPr>
              <a:t>Naveed Ahammed                 - AP23110010269</a:t>
            </a:r>
          </a:p>
          <a:p>
            <a:pPr algn="l">
              <a:lnSpc>
                <a:spcPts val="5086"/>
              </a:lnSpc>
            </a:pPr>
            <a:r>
              <a:rPr lang="en-US" sz="3633">
                <a:solidFill>
                  <a:srgbClr val="3B4D6B"/>
                </a:solidFill>
                <a:latin typeface="DM Sans"/>
                <a:ea typeface="DM Sans"/>
                <a:cs typeface="DM Sans"/>
                <a:sym typeface="DM Sans"/>
              </a:rPr>
              <a:t>Jaqueen Agneshia Christy    - AP23110011238</a:t>
            </a:r>
          </a:p>
          <a:p>
            <a:pPr algn="l">
              <a:lnSpc>
                <a:spcPts val="5086"/>
              </a:lnSpc>
            </a:pPr>
            <a:r>
              <a:rPr lang="en-US" sz="3633">
                <a:solidFill>
                  <a:srgbClr val="3B4D6B"/>
                </a:solidFill>
                <a:latin typeface="DM Sans"/>
                <a:ea typeface="DM Sans"/>
                <a:cs typeface="DM Sans"/>
                <a:sym typeface="DM Sans"/>
              </a:rPr>
              <a:t>Christina Evangelin                - AP23110011273 </a:t>
            </a:r>
          </a:p>
        </p:txBody>
      </p:sp>
      <p:sp>
        <p:nvSpPr>
          <p:cNvPr id="3" name="TextBox 3"/>
          <p:cNvSpPr txBox="1"/>
          <p:nvPr/>
        </p:nvSpPr>
        <p:spPr>
          <a:xfrm>
            <a:off x="3883917" y="1609606"/>
            <a:ext cx="9485312" cy="1377949"/>
          </a:xfrm>
          <a:prstGeom prst="rect">
            <a:avLst/>
          </a:prstGeom>
        </p:spPr>
        <p:txBody>
          <a:bodyPr lIns="0" tIns="0" rIns="0" bIns="0" rtlCol="0" anchor="t">
            <a:spAutoFit/>
          </a:bodyPr>
          <a:lstStyle/>
          <a:p>
            <a:pPr algn="l">
              <a:lnSpc>
                <a:spcPts val="11200"/>
              </a:lnSpc>
            </a:pPr>
            <a:r>
              <a:rPr lang="en-US" sz="8000">
                <a:solidFill>
                  <a:srgbClr val="3B4D6B"/>
                </a:solidFill>
                <a:latin typeface="Georgia"/>
                <a:ea typeface="Georgia"/>
                <a:cs typeface="Georgia"/>
                <a:sym typeface="Georgia"/>
              </a:rPr>
              <a:t>GROUP MEMBERS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E8FC"/>
        </a:solidFill>
        <a:effectLst/>
      </p:bgPr>
    </p:bg>
    <p:spTree>
      <p:nvGrpSpPr>
        <p:cNvPr id="1" name=""/>
        <p:cNvGrpSpPr/>
        <p:nvPr/>
      </p:nvGrpSpPr>
      <p:grpSpPr>
        <a:xfrm>
          <a:off x="0" y="0"/>
          <a:ext cx="0" cy="0"/>
          <a:chOff x="0" y="0"/>
          <a:chExt cx="0" cy="0"/>
        </a:xfrm>
      </p:grpSpPr>
      <p:sp>
        <p:nvSpPr>
          <p:cNvPr id="2" name="TextBox 2"/>
          <p:cNvSpPr txBox="1"/>
          <p:nvPr/>
        </p:nvSpPr>
        <p:spPr>
          <a:xfrm>
            <a:off x="1028700" y="1095375"/>
            <a:ext cx="15089863" cy="1149350"/>
          </a:xfrm>
          <a:prstGeom prst="rect">
            <a:avLst/>
          </a:prstGeom>
        </p:spPr>
        <p:txBody>
          <a:bodyPr lIns="0" tIns="0" rIns="0" bIns="0" rtlCol="0" anchor="t">
            <a:spAutoFit/>
          </a:bodyPr>
          <a:lstStyle/>
          <a:p>
            <a:pPr algn="l">
              <a:lnSpc>
                <a:spcPts val="8800"/>
              </a:lnSpc>
            </a:pPr>
            <a:r>
              <a:rPr lang="en-US" sz="8000">
                <a:solidFill>
                  <a:srgbClr val="3B4D6B"/>
                </a:solidFill>
                <a:latin typeface="Georgia"/>
                <a:ea typeface="Georgia"/>
                <a:cs typeface="Georgia"/>
                <a:sym typeface="Georgia"/>
              </a:rPr>
              <a:t>Problem Statement and Objective</a:t>
            </a:r>
          </a:p>
        </p:txBody>
      </p:sp>
      <p:grpSp>
        <p:nvGrpSpPr>
          <p:cNvPr id="3" name="Group 3"/>
          <p:cNvGrpSpPr/>
          <p:nvPr/>
        </p:nvGrpSpPr>
        <p:grpSpPr>
          <a:xfrm>
            <a:off x="1028700" y="3650864"/>
            <a:ext cx="7509042" cy="3545100"/>
            <a:chOff x="0" y="0"/>
            <a:chExt cx="10012056" cy="4726800"/>
          </a:xfrm>
        </p:grpSpPr>
        <p:sp>
          <p:nvSpPr>
            <p:cNvPr id="4" name="TextBox 4"/>
            <p:cNvSpPr txBox="1"/>
            <p:nvPr/>
          </p:nvSpPr>
          <p:spPr>
            <a:xfrm>
              <a:off x="0" y="739839"/>
              <a:ext cx="10012056" cy="3986961"/>
            </a:xfrm>
            <a:prstGeom prst="rect">
              <a:avLst/>
            </a:prstGeom>
          </p:spPr>
          <p:txBody>
            <a:bodyPr lIns="0" tIns="0" rIns="0" bIns="0" rtlCol="0" anchor="t">
              <a:spAutoFit/>
            </a:bodyPr>
            <a:lstStyle/>
            <a:p>
              <a:pPr algn="l">
                <a:lnSpc>
                  <a:spcPts val="2940"/>
                </a:lnSpc>
              </a:pPr>
              <a:r>
                <a:rPr lang="en-US" sz="2100" dirty="0">
                  <a:solidFill>
                    <a:srgbClr val="3B4D6B"/>
                  </a:solidFill>
                  <a:latin typeface="DM Sans"/>
                  <a:ea typeface="DM Sans"/>
                  <a:cs typeface="DM Sans"/>
                  <a:sym typeface="DM Sans"/>
                </a:rPr>
                <a:t>Many documents contain essential ideas that are difficult to notice because they are surrounded by large volumes of text. Manually reading and skimming through articles, research papers, and reports is time-consuming and often leads to missing important points. With the rapid growth of digital content, there is a strong need for a faster way to understand the main topics without going through every line in detail.</a:t>
              </a:r>
            </a:p>
          </p:txBody>
        </p:sp>
        <p:sp>
          <p:nvSpPr>
            <p:cNvPr id="5" name="TextBox 5"/>
            <p:cNvSpPr txBox="1"/>
            <p:nvPr/>
          </p:nvSpPr>
          <p:spPr>
            <a:xfrm>
              <a:off x="0" y="-47625"/>
              <a:ext cx="10012056" cy="616770"/>
            </a:xfrm>
            <a:prstGeom prst="rect">
              <a:avLst/>
            </a:prstGeom>
          </p:spPr>
          <p:txBody>
            <a:bodyPr lIns="0" tIns="0" rIns="0" bIns="0" rtlCol="0" anchor="t">
              <a:spAutoFit/>
            </a:bodyPr>
            <a:lstStyle/>
            <a:p>
              <a:pPr algn="l">
                <a:lnSpc>
                  <a:spcPts val="3640"/>
                </a:lnSpc>
              </a:pPr>
              <a:r>
                <a:rPr lang="en-US" sz="2600" b="1">
                  <a:solidFill>
                    <a:srgbClr val="6E91C4"/>
                  </a:solidFill>
                  <a:latin typeface="DM Sans Bold"/>
                  <a:ea typeface="DM Sans Bold"/>
                  <a:cs typeface="DM Sans Bold"/>
                  <a:sym typeface="DM Sans Bold"/>
                </a:rPr>
                <a:t>PROBLEM</a:t>
              </a:r>
            </a:p>
          </p:txBody>
        </p:sp>
      </p:grpSp>
      <p:grpSp>
        <p:nvGrpSpPr>
          <p:cNvPr id="6" name="Group 6"/>
          <p:cNvGrpSpPr/>
          <p:nvPr/>
        </p:nvGrpSpPr>
        <p:grpSpPr>
          <a:xfrm>
            <a:off x="9805538" y="3650864"/>
            <a:ext cx="7453762" cy="3912023"/>
            <a:chOff x="0" y="0"/>
            <a:chExt cx="9938349" cy="5216031"/>
          </a:xfrm>
        </p:grpSpPr>
        <p:sp>
          <p:nvSpPr>
            <p:cNvPr id="7" name="TextBox 7"/>
            <p:cNvSpPr txBox="1"/>
            <p:nvPr/>
          </p:nvSpPr>
          <p:spPr>
            <a:xfrm>
              <a:off x="0" y="733717"/>
              <a:ext cx="9938349" cy="4482314"/>
            </a:xfrm>
            <a:prstGeom prst="rect">
              <a:avLst/>
            </a:prstGeom>
          </p:spPr>
          <p:txBody>
            <a:bodyPr lIns="0" tIns="0" rIns="0" bIns="0" rtlCol="0" anchor="t">
              <a:spAutoFit/>
            </a:bodyPr>
            <a:lstStyle/>
            <a:p>
              <a:pPr algn="l">
                <a:lnSpc>
                  <a:spcPts val="2940"/>
                </a:lnSpc>
              </a:pPr>
              <a:r>
                <a:rPr lang="en-US" sz="2100" dirty="0">
                  <a:solidFill>
                    <a:srgbClr val="3B4D6B"/>
                  </a:solidFill>
                  <a:latin typeface="DM Sans"/>
                  <a:ea typeface="DM Sans"/>
                  <a:cs typeface="DM Sans"/>
                  <a:sym typeface="DM Sans"/>
                </a:rPr>
                <a:t>The objective of this project is to automatically extract the most relevant keywords from any given text using the TF-IDF technique. To make this process accessible, a simple web interface is provided for users to paste or upload documents, while a REST API enables automated extraction for developers and external systems. This allows both technical and non-technical users to quickly identify key ideas and understand the core meaning of long text.</a:t>
              </a:r>
            </a:p>
            <a:p>
              <a:pPr algn="l">
                <a:lnSpc>
                  <a:spcPts val="2940"/>
                </a:lnSpc>
              </a:pPr>
              <a:endParaRPr lang="en-US" sz="2100" dirty="0">
                <a:solidFill>
                  <a:srgbClr val="3B4D6B"/>
                </a:solidFill>
                <a:latin typeface="DM Sans"/>
                <a:ea typeface="DM Sans"/>
                <a:cs typeface="DM Sans"/>
                <a:sym typeface="DM Sans"/>
              </a:endParaRPr>
            </a:p>
          </p:txBody>
        </p:sp>
        <p:sp>
          <p:nvSpPr>
            <p:cNvPr id="8" name="TextBox 8"/>
            <p:cNvSpPr txBox="1"/>
            <p:nvPr/>
          </p:nvSpPr>
          <p:spPr>
            <a:xfrm>
              <a:off x="0" y="-47625"/>
              <a:ext cx="9938349" cy="616770"/>
            </a:xfrm>
            <a:prstGeom prst="rect">
              <a:avLst/>
            </a:prstGeom>
          </p:spPr>
          <p:txBody>
            <a:bodyPr lIns="0" tIns="0" rIns="0" bIns="0" rtlCol="0" anchor="t">
              <a:spAutoFit/>
            </a:bodyPr>
            <a:lstStyle/>
            <a:p>
              <a:pPr algn="l">
                <a:lnSpc>
                  <a:spcPts val="3640"/>
                </a:lnSpc>
              </a:pPr>
              <a:r>
                <a:rPr lang="en-US" sz="2600" b="1">
                  <a:solidFill>
                    <a:srgbClr val="6E91C4"/>
                  </a:solidFill>
                  <a:latin typeface="DM Sans Bold"/>
                  <a:ea typeface="DM Sans Bold"/>
                  <a:cs typeface="DM Sans Bold"/>
                  <a:sym typeface="DM Sans Bold"/>
                </a:rPr>
                <a:t>OBJECTIVE</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E8FC"/>
        </a:solidFill>
        <a:effectLst/>
      </p:bgPr>
    </p:bg>
    <p:spTree>
      <p:nvGrpSpPr>
        <p:cNvPr id="1" name=""/>
        <p:cNvGrpSpPr/>
        <p:nvPr/>
      </p:nvGrpSpPr>
      <p:grpSpPr>
        <a:xfrm>
          <a:off x="0" y="0"/>
          <a:ext cx="0" cy="0"/>
          <a:chOff x="0" y="0"/>
          <a:chExt cx="0" cy="0"/>
        </a:xfrm>
      </p:grpSpPr>
      <p:sp>
        <p:nvSpPr>
          <p:cNvPr id="2" name="TextBox 2"/>
          <p:cNvSpPr txBox="1"/>
          <p:nvPr/>
        </p:nvSpPr>
        <p:spPr>
          <a:xfrm>
            <a:off x="1028700" y="800100"/>
            <a:ext cx="13888402" cy="1149350"/>
          </a:xfrm>
          <a:prstGeom prst="rect">
            <a:avLst/>
          </a:prstGeom>
        </p:spPr>
        <p:txBody>
          <a:bodyPr lIns="0" tIns="0" rIns="0" bIns="0" rtlCol="0" anchor="t">
            <a:spAutoFit/>
          </a:bodyPr>
          <a:lstStyle/>
          <a:p>
            <a:pPr algn="l">
              <a:lnSpc>
                <a:spcPts val="8800"/>
              </a:lnSpc>
            </a:pPr>
            <a:r>
              <a:rPr lang="en-US" sz="8000">
                <a:solidFill>
                  <a:srgbClr val="3B4D6B"/>
                </a:solidFill>
                <a:latin typeface="Georgia"/>
                <a:ea typeface="Georgia"/>
                <a:cs typeface="Georgia"/>
                <a:sym typeface="Georgia"/>
              </a:rPr>
              <a:t>Proposed Solution &amp; Workflow</a:t>
            </a:r>
          </a:p>
        </p:txBody>
      </p:sp>
      <p:grpSp>
        <p:nvGrpSpPr>
          <p:cNvPr id="3" name="Group 3"/>
          <p:cNvGrpSpPr/>
          <p:nvPr/>
        </p:nvGrpSpPr>
        <p:grpSpPr>
          <a:xfrm>
            <a:off x="1028700" y="2498870"/>
            <a:ext cx="8115300" cy="3447068"/>
            <a:chOff x="0" y="-66675"/>
            <a:chExt cx="10820400" cy="4596090"/>
          </a:xfrm>
        </p:grpSpPr>
        <p:sp>
          <p:nvSpPr>
            <p:cNvPr id="4" name="TextBox 4"/>
            <p:cNvSpPr txBox="1"/>
            <p:nvPr/>
          </p:nvSpPr>
          <p:spPr>
            <a:xfrm>
              <a:off x="0" y="697939"/>
              <a:ext cx="10820400" cy="3831476"/>
            </a:xfrm>
            <a:prstGeom prst="rect">
              <a:avLst/>
            </a:prstGeom>
          </p:spPr>
          <p:txBody>
            <a:bodyPr lIns="0" tIns="0" rIns="0" bIns="0" rtlCol="0" anchor="t">
              <a:spAutoFit/>
            </a:bodyPr>
            <a:lstStyle/>
            <a:p>
              <a:pPr algn="just">
                <a:lnSpc>
                  <a:spcPts val="3837"/>
                </a:lnSpc>
              </a:pPr>
              <a:r>
                <a:rPr lang="en-US" sz="2741" dirty="0">
                  <a:solidFill>
                    <a:srgbClr val="3B4D6B"/>
                  </a:solidFill>
                  <a:latin typeface="DM Sans"/>
                  <a:ea typeface="DM Sans"/>
                  <a:cs typeface="DM Sans"/>
                  <a:sym typeface="DM Sans"/>
                </a:rPr>
                <a:t>A TF-IDF based keyword extraction </a:t>
              </a:r>
            </a:p>
            <a:p>
              <a:pPr algn="just">
                <a:lnSpc>
                  <a:spcPts val="3837"/>
                </a:lnSpc>
              </a:pPr>
              <a:r>
                <a:rPr lang="en-US" sz="2741" dirty="0">
                  <a:solidFill>
                    <a:srgbClr val="3B4D6B"/>
                  </a:solidFill>
                  <a:latin typeface="DM Sans"/>
                  <a:ea typeface="DM Sans"/>
                  <a:cs typeface="DM Sans"/>
                  <a:sym typeface="DM Sans"/>
                </a:rPr>
                <a:t>system that preprocesses text, </a:t>
              </a:r>
            </a:p>
            <a:p>
              <a:pPr algn="just">
                <a:lnSpc>
                  <a:spcPts val="3837"/>
                </a:lnSpc>
              </a:pPr>
              <a:r>
                <a:rPr lang="en-US" sz="2741" dirty="0">
                  <a:solidFill>
                    <a:srgbClr val="3B4D6B"/>
                  </a:solidFill>
                  <a:latin typeface="DM Sans"/>
                  <a:ea typeface="DM Sans"/>
                  <a:cs typeface="DM Sans"/>
                  <a:sym typeface="DM Sans"/>
                </a:rPr>
                <a:t>converts it into vector form, </a:t>
              </a:r>
            </a:p>
            <a:p>
              <a:pPr algn="just">
                <a:lnSpc>
                  <a:spcPts val="3837"/>
                </a:lnSpc>
              </a:pPr>
              <a:r>
                <a:rPr lang="en-US" sz="2741" dirty="0">
                  <a:solidFill>
                    <a:srgbClr val="3B4D6B"/>
                  </a:solidFill>
                  <a:latin typeface="DM Sans"/>
                  <a:ea typeface="DM Sans"/>
                  <a:cs typeface="DM Sans"/>
                  <a:sym typeface="DM Sans"/>
                </a:rPr>
                <a:t>ranks terms by importance, and </a:t>
              </a:r>
            </a:p>
            <a:p>
              <a:pPr algn="just">
                <a:lnSpc>
                  <a:spcPts val="3837"/>
                </a:lnSpc>
              </a:pPr>
              <a:r>
                <a:rPr lang="en-US" sz="2741" dirty="0">
                  <a:solidFill>
                    <a:srgbClr val="3B4D6B"/>
                  </a:solidFill>
                  <a:latin typeface="DM Sans"/>
                  <a:ea typeface="DM Sans"/>
                  <a:cs typeface="DM Sans"/>
                  <a:sym typeface="DM Sans"/>
                </a:rPr>
                <a:t>outputs the most relevant keywords.</a:t>
              </a:r>
            </a:p>
            <a:p>
              <a:pPr algn="just">
                <a:lnSpc>
                  <a:spcPts val="3503"/>
                </a:lnSpc>
              </a:pPr>
              <a:endParaRPr lang="en-US" sz="2741" dirty="0">
                <a:solidFill>
                  <a:srgbClr val="3B4D6B"/>
                </a:solidFill>
                <a:latin typeface="DM Sans"/>
                <a:ea typeface="DM Sans"/>
                <a:cs typeface="DM Sans"/>
                <a:sym typeface="DM Sans"/>
              </a:endParaRPr>
            </a:p>
          </p:txBody>
        </p:sp>
        <p:sp>
          <p:nvSpPr>
            <p:cNvPr id="5" name="TextBox 5"/>
            <p:cNvSpPr txBox="1"/>
            <p:nvPr/>
          </p:nvSpPr>
          <p:spPr>
            <a:xfrm>
              <a:off x="0" y="-66675"/>
              <a:ext cx="5668789" cy="688267"/>
            </a:xfrm>
            <a:prstGeom prst="rect">
              <a:avLst/>
            </a:prstGeom>
          </p:spPr>
          <p:txBody>
            <a:bodyPr lIns="0" tIns="0" rIns="0" bIns="0" rtlCol="0" anchor="t">
              <a:spAutoFit/>
            </a:bodyPr>
            <a:lstStyle/>
            <a:p>
              <a:pPr algn="l">
                <a:lnSpc>
                  <a:spcPts val="4338"/>
                </a:lnSpc>
              </a:pPr>
              <a:r>
                <a:rPr lang="en-US" sz="3098" b="1">
                  <a:solidFill>
                    <a:srgbClr val="6E91C4"/>
                  </a:solidFill>
                  <a:latin typeface="DM Sans Bold"/>
                  <a:ea typeface="DM Sans Bold"/>
                  <a:cs typeface="DM Sans Bold"/>
                  <a:sym typeface="DM Sans Bold"/>
                </a:rPr>
                <a:t>PROPOSED SOLUTION</a:t>
              </a:r>
            </a:p>
          </p:txBody>
        </p:sp>
      </p:grpSp>
      <p:grpSp>
        <p:nvGrpSpPr>
          <p:cNvPr id="6" name="Group 6"/>
          <p:cNvGrpSpPr/>
          <p:nvPr/>
        </p:nvGrpSpPr>
        <p:grpSpPr>
          <a:xfrm>
            <a:off x="9793489" y="2548876"/>
            <a:ext cx="4941331" cy="6246495"/>
            <a:chOff x="0" y="0"/>
            <a:chExt cx="6588441" cy="8328660"/>
          </a:xfrm>
        </p:grpSpPr>
        <p:sp>
          <p:nvSpPr>
            <p:cNvPr id="7" name="TextBox 7"/>
            <p:cNvSpPr txBox="1"/>
            <p:nvPr/>
          </p:nvSpPr>
          <p:spPr>
            <a:xfrm>
              <a:off x="0" y="698246"/>
              <a:ext cx="6588441" cy="7630414"/>
            </a:xfrm>
            <a:prstGeom prst="rect">
              <a:avLst/>
            </a:prstGeom>
          </p:spPr>
          <p:txBody>
            <a:bodyPr lIns="0" tIns="0" rIns="0" bIns="0" rtlCol="0" anchor="t">
              <a:spAutoFit/>
            </a:bodyPr>
            <a:lstStyle/>
            <a:p>
              <a:pPr algn="l">
                <a:lnSpc>
                  <a:spcPts val="4199"/>
                </a:lnSpc>
              </a:pPr>
              <a:r>
                <a:rPr lang="en-US" sz="2999" dirty="0">
                  <a:solidFill>
                    <a:srgbClr val="3B4D6B"/>
                  </a:solidFill>
                  <a:latin typeface="DM Sans"/>
                  <a:ea typeface="DM Sans"/>
                  <a:cs typeface="DM Sans"/>
                  <a:sym typeface="DM Sans"/>
                </a:rPr>
                <a:t> Input</a:t>
              </a:r>
            </a:p>
            <a:p>
              <a:pPr algn="l">
                <a:lnSpc>
                  <a:spcPts val="4913"/>
                </a:lnSpc>
              </a:pPr>
              <a:r>
                <a:rPr lang="en-US" sz="3509" dirty="0">
                  <a:solidFill>
                    <a:srgbClr val="3B4D6B"/>
                  </a:solidFill>
                  <a:latin typeface="DM Sans"/>
                  <a:ea typeface="DM Sans"/>
                  <a:cs typeface="DM Sans"/>
                  <a:sym typeface="DM Sans"/>
                </a:rPr>
                <a:t> ↓</a:t>
              </a:r>
            </a:p>
            <a:p>
              <a:pPr algn="l">
                <a:lnSpc>
                  <a:spcPts val="4199"/>
                </a:lnSpc>
              </a:pPr>
              <a:r>
                <a:rPr lang="en-US" sz="2999" dirty="0">
                  <a:solidFill>
                    <a:srgbClr val="3B4D6B"/>
                  </a:solidFill>
                  <a:latin typeface="DM Sans"/>
                  <a:ea typeface="DM Sans"/>
                  <a:cs typeface="DM Sans"/>
                  <a:sym typeface="DM Sans"/>
                </a:rPr>
                <a:t>Preprocessing</a:t>
              </a:r>
            </a:p>
            <a:p>
              <a:pPr algn="l">
                <a:lnSpc>
                  <a:spcPts val="4913"/>
                </a:lnSpc>
              </a:pPr>
              <a:r>
                <a:rPr lang="en-US" sz="3509" dirty="0">
                  <a:solidFill>
                    <a:srgbClr val="3B4D6B"/>
                  </a:solidFill>
                  <a:latin typeface="DM Sans"/>
                  <a:ea typeface="DM Sans"/>
                  <a:cs typeface="DM Sans"/>
                  <a:sym typeface="DM Sans"/>
                </a:rPr>
                <a:t> ↓</a:t>
              </a:r>
            </a:p>
            <a:p>
              <a:pPr algn="l">
                <a:lnSpc>
                  <a:spcPts val="4199"/>
                </a:lnSpc>
              </a:pPr>
              <a:r>
                <a:rPr lang="en-US" sz="2999" dirty="0">
                  <a:solidFill>
                    <a:srgbClr val="3B4D6B"/>
                  </a:solidFill>
                  <a:latin typeface="DM Sans"/>
                  <a:ea typeface="DM Sans"/>
                  <a:cs typeface="DM Sans"/>
                  <a:sym typeface="DM Sans"/>
                </a:rPr>
                <a:t>TF-IDF Vectorization</a:t>
              </a:r>
            </a:p>
            <a:p>
              <a:pPr algn="l">
                <a:lnSpc>
                  <a:spcPts val="4913"/>
                </a:lnSpc>
              </a:pPr>
              <a:r>
                <a:rPr lang="en-US" sz="3509" dirty="0">
                  <a:solidFill>
                    <a:srgbClr val="3B4D6B"/>
                  </a:solidFill>
                  <a:latin typeface="DM Sans"/>
                  <a:ea typeface="DM Sans"/>
                  <a:cs typeface="DM Sans"/>
                  <a:sym typeface="DM Sans"/>
                </a:rPr>
                <a:t> ↓</a:t>
              </a:r>
            </a:p>
            <a:p>
              <a:pPr algn="l">
                <a:lnSpc>
                  <a:spcPts val="4199"/>
                </a:lnSpc>
              </a:pPr>
              <a:r>
                <a:rPr lang="en-US" sz="2999" dirty="0">
                  <a:solidFill>
                    <a:srgbClr val="3B4D6B"/>
                  </a:solidFill>
                  <a:latin typeface="DM Sans"/>
                  <a:ea typeface="DM Sans"/>
                  <a:cs typeface="DM Sans"/>
                  <a:sym typeface="DM Sans"/>
                </a:rPr>
                <a:t>Ranking</a:t>
              </a:r>
            </a:p>
            <a:p>
              <a:pPr algn="l">
                <a:lnSpc>
                  <a:spcPts val="4913"/>
                </a:lnSpc>
              </a:pPr>
              <a:r>
                <a:rPr lang="en-US" sz="3509" dirty="0">
                  <a:solidFill>
                    <a:srgbClr val="3B4D6B"/>
                  </a:solidFill>
                  <a:latin typeface="DM Sans"/>
                  <a:ea typeface="DM Sans"/>
                  <a:cs typeface="DM Sans"/>
                  <a:sym typeface="DM Sans"/>
                </a:rPr>
                <a:t> ↓</a:t>
              </a:r>
            </a:p>
            <a:p>
              <a:pPr algn="l">
                <a:lnSpc>
                  <a:spcPts val="4199"/>
                </a:lnSpc>
              </a:pPr>
              <a:r>
                <a:rPr lang="en-US" sz="2999" dirty="0">
                  <a:solidFill>
                    <a:srgbClr val="3B4D6B"/>
                  </a:solidFill>
                  <a:latin typeface="DM Sans"/>
                  <a:ea typeface="DM Sans"/>
                  <a:cs typeface="DM Sans"/>
                  <a:sym typeface="DM Sans"/>
                </a:rPr>
                <a:t>Output</a:t>
              </a:r>
            </a:p>
            <a:p>
              <a:pPr algn="l">
                <a:lnSpc>
                  <a:spcPts val="4913"/>
                </a:lnSpc>
              </a:pPr>
              <a:endParaRPr lang="en-US" sz="2999" dirty="0">
                <a:solidFill>
                  <a:srgbClr val="3B4D6B"/>
                </a:solidFill>
                <a:latin typeface="DM Sans"/>
                <a:ea typeface="DM Sans"/>
                <a:cs typeface="DM Sans"/>
                <a:sym typeface="DM Sans"/>
              </a:endParaRPr>
            </a:p>
          </p:txBody>
        </p:sp>
        <p:sp>
          <p:nvSpPr>
            <p:cNvPr id="8" name="TextBox 8"/>
            <p:cNvSpPr txBox="1"/>
            <p:nvPr/>
          </p:nvSpPr>
          <p:spPr>
            <a:xfrm>
              <a:off x="0" y="-66675"/>
              <a:ext cx="6285470" cy="685588"/>
            </a:xfrm>
            <a:prstGeom prst="rect">
              <a:avLst/>
            </a:prstGeom>
          </p:spPr>
          <p:txBody>
            <a:bodyPr lIns="0" tIns="0" rIns="0" bIns="0" rtlCol="0" anchor="t">
              <a:spAutoFit/>
            </a:bodyPr>
            <a:lstStyle/>
            <a:p>
              <a:pPr algn="l">
                <a:lnSpc>
                  <a:spcPts val="4339"/>
                </a:lnSpc>
              </a:pPr>
              <a:r>
                <a:rPr lang="en-US" sz="3099" b="1">
                  <a:solidFill>
                    <a:srgbClr val="6E91C4"/>
                  </a:solidFill>
                  <a:latin typeface="DM Sans Bold"/>
                  <a:ea typeface="DM Sans Bold"/>
                  <a:cs typeface="DM Sans Bold"/>
                  <a:sym typeface="DM Sans Bold"/>
                </a:rPr>
                <a:t>WORKFLOW</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E8FC"/>
        </a:solidFill>
        <a:effectLst/>
      </p:bgPr>
    </p:bg>
    <p:spTree>
      <p:nvGrpSpPr>
        <p:cNvPr id="1" name=""/>
        <p:cNvGrpSpPr/>
        <p:nvPr/>
      </p:nvGrpSpPr>
      <p:grpSpPr>
        <a:xfrm>
          <a:off x="0" y="0"/>
          <a:ext cx="0" cy="0"/>
          <a:chOff x="0" y="0"/>
          <a:chExt cx="0" cy="0"/>
        </a:xfrm>
      </p:grpSpPr>
      <p:sp>
        <p:nvSpPr>
          <p:cNvPr id="2" name="TextBox 2"/>
          <p:cNvSpPr txBox="1"/>
          <p:nvPr/>
        </p:nvSpPr>
        <p:spPr>
          <a:xfrm>
            <a:off x="1028700" y="667684"/>
            <a:ext cx="13893403" cy="1149350"/>
          </a:xfrm>
          <a:prstGeom prst="rect">
            <a:avLst/>
          </a:prstGeom>
        </p:spPr>
        <p:txBody>
          <a:bodyPr lIns="0" tIns="0" rIns="0" bIns="0" rtlCol="0" anchor="t">
            <a:spAutoFit/>
          </a:bodyPr>
          <a:lstStyle/>
          <a:p>
            <a:pPr algn="l">
              <a:lnSpc>
                <a:spcPts val="8800"/>
              </a:lnSpc>
            </a:pPr>
            <a:r>
              <a:rPr lang="en-US" sz="8000">
                <a:solidFill>
                  <a:srgbClr val="3B4D6B"/>
                </a:solidFill>
                <a:latin typeface="Georgia"/>
                <a:ea typeface="Georgia"/>
                <a:cs typeface="Georgia"/>
                <a:sym typeface="Georgia"/>
              </a:rPr>
              <a:t>DATASET &amp; METHODOLOGY</a:t>
            </a:r>
          </a:p>
        </p:txBody>
      </p:sp>
      <p:grpSp>
        <p:nvGrpSpPr>
          <p:cNvPr id="3" name="Group 3"/>
          <p:cNvGrpSpPr/>
          <p:nvPr/>
        </p:nvGrpSpPr>
        <p:grpSpPr>
          <a:xfrm>
            <a:off x="1028700" y="2097672"/>
            <a:ext cx="12011050" cy="1987459"/>
            <a:chOff x="0" y="0"/>
            <a:chExt cx="16014733" cy="2649946"/>
          </a:xfrm>
        </p:grpSpPr>
        <p:sp>
          <p:nvSpPr>
            <p:cNvPr id="4" name="TextBox 4"/>
            <p:cNvSpPr txBox="1"/>
            <p:nvPr/>
          </p:nvSpPr>
          <p:spPr>
            <a:xfrm>
              <a:off x="0" y="692241"/>
              <a:ext cx="16014733" cy="1957705"/>
            </a:xfrm>
            <a:prstGeom prst="rect">
              <a:avLst/>
            </a:prstGeom>
          </p:spPr>
          <p:txBody>
            <a:bodyPr lIns="0" tIns="0" rIns="0" bIns="0" rtlCol="0" anchor="t">
              <a:spAutoFit/>
            </a:bodyPr>
            <a:lstStyle/>
            <a:p>
              <a:pPr marL="453390" lvl="1" indent="-226695" algn="l">
                <a:lnSpc>
                  <a:spcPts val="2940"/>
                </a:lnSpc>
                <a:buFont typeface="Arial"/>
                <a:buChar char="•"/>
              </a:pPr>
              <a:r>
                <a:rPr lang="en-US" sz="2100" dirty="0">
                  <a:solidFill>
                    <a:srgbClr val="3B4D6B"/>
                  </a:solidFill>
                  <a:latin typeface="DM Sans"/>
                  <a:ea typeface="DM Sans"/>
                  <a:cs typeface="DM Sans"/>
                  <a:sym typeface="DM Sans"/>
                </a:rPr>
                <a:t>User-provided text input</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Custom text samples</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No external dataset required — works on dynamic input</a:t>
              </a:r>
            </a:p>
            <a:p>
              <a:pPr algn="l">
                <a:lnSpc>
                  <a:spcPts val="2940"/>
                </a:lnSpc>
              </a:pPr>
              <a:endParaRPr lang="en-US" sz="2100" dirty="0">
                <a:solidFill>
                  <a:srgbClr val="3B4D6B"/>
                </a:solidFill>
                <a:latin typeface="DM Sans"/>
                <a:ea typeface="DM Sans"/>
                <a:cs typeface="DM Sans"/>
                <a:sym typeface="DM Sans"/>
              </a:endParaRPr>
            </a:p>
          </p:txBody>
        </p:sp>
        <p:sp>
          <p:nvSpPr>
            <p:cNvPr id="5" name="TextBox 5"/>
            <p:cNvSpPr txBox="1"/>
            <p:nvPr/>
          </p:nvSpPr>
          <p:spPr>
            <a:xfrm>
              <a:off x="0" y="-47625"/>
              <a:ext cx="16014733" cy="569172"/>
            </a:xfrm>
            <a:prstGeom prst="rect">
              <a:avLst/>
            </a:prstGeom>
          </p:spPr>
          <p:txBody>
            <a:bodyPr lIns="0" tIns="0" rIns="0" bIns="0" rtlCol="0" anchor="t">
              <a:spAutoFit/>
            </a:bodyPr>
            <a:lstStyle/>
            <a:p>
              <a:pPr algn="l">
                <a:lnSpc>
                  <a:spcPts val="3640"/>
                </a:lnSpc>
              </a:pPr>
              <a:r>
                <a:rPr lang="en-US" sz="2600" b="1">
                  <a:solidFill>
                    <a:srgbClr val="6E91C4"/>
                  </a:solidFill>
                  <a:latin typeface="DM Sans Bold"/>
                  <a:ea typeface="DM Sans Bold"/>
                  <a:cs typeface="DM Sans Bold"/>
                  <a:sym typeface="DM Sans Bold"/>
                </a:rPr>
                <a:t>DATASET</a:t>
              </a:r>
            </a:p>
          </p:txBody>
        </p:sp>
      </p:grpSp>
      <p:grpSp>
        <p:nvGrpSpPr>
          <p:cNvPr id="6" name="Group 6"/>
          <p:cNvGrpSpPr/>
          <p:nvPr/>
        </p:nvGrpSpPr>
        <p:grpSpPr>
          <a:xfrm>
            <a:off x="1028700" y="4361356"/>
            <a:ext cx="7453762" cy="5697618"/>
            <a:chOff x="0" y="0"/>
            <a:chExt cx="9938349" cy="7596824"/>
          </a:xfrm>
        </p:grpSpPr>
        <p:sp>
          <p:nvSpPr>
            <p:cNvPr id="7" name="TextBox 7"/>
            <p:cNvSpPr txBox="1"/>
            <p:nvPr/>
          </p:nvSpPr>
          <p:spPr>
            <a:xfrm>
              <a:off x="0" y="686119"/>
              <a:ext cx="9938349" cy="6910705"/>
            </a:xfrm>
            <a:prstGeom prst="rect">
              <a:avLst/>
            </a:prstGeom>
          </p:spPr>
          <p:txBody>
            <a:bodyPr lIns="0" tIns="0" rIns="0" bIns="0" rtlCol="0" anchor="t">
              <a:spAutoFit/>
            </a:bodyPr>
            <a:lstStyle/>
            <a:p>
              <a:pPr algn="l">
                <a:lnSpc>
                  <a:spcPts val="2940"/>
                </a:lnSpc>
              </a:pPr>
              <a:r>
                <a:rPr lang="en-US" sz="2100" dirty="0">
                  <a:solidFill>
                    <a:srgbClr val="3B4D6B"/>
                  </a:solidFill>
                  <a:latin typeface="DM Sans"/>
                  <a:ea typeface="DM Sans"/>
                  <a:cs typeface="DM Sans"/>
                  <a:sym typeface="DM Sans"/>
                </a:rPr>
                <a:t>1. Preprocessing</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Convert text to lowercase</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Remove unwanted characters using regex</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Optional normalization/stemming to reduce word suffixes</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 (e.g., “running” → “run”, “studies” → “study”)</a:t>
              </a:r>
            </a:p>
            <a:p>
              <a:pPr algn="l">
                <a:lnSpc>
                  <a:spcPts val="2940"/>
                </a:lnSpc>
              </a:pPr>
              <a:endParaRPr lang="en-US" sz="2100" dirty="0">
                <a:solidFill>
                  <a:srgbClr val="3B4D6B"/>
                </a:solidFill>
                <a:latin typeface="DM Sans"/>
                <a:ea typeface="DM Sans"/>
                <a:cs typeface="DM Sans"/>
                <a:sym typeface="DM Sans"/>
              </a:endParaRPr>
            </a:p>
            <a:p>
              <a:pPr algn="l">
                <a:lnSpc>
                  <a:spcPts val="2940"/>
                </a:lnSpc>
              </a:pPr>
              <a:r>
                <a:rPr lang="en-US" sz="2100" dirty="0">
                  <a:solidFill>
                    <a:srgbClr val="3B4D6B"/>
                  </a:solidFill>
                  <a:latin typeface="DM Sans"/>
                  <a:ea typeface="DM Sans"/>
                  <a:cs typeface="DM Sans"/>
                  <a:sym typeface="DM Sans"/>
                </a:rPr>
                <a:t>2. Vectorization</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Apply </a:t>
              </a:r>
              <a:r>
                <a:rPr lang="en-US" sz="2100" dirty="0" err="1">
                  <a:solidFill>
                    <a:srgbClr val="3B4D6B"/>
                  </a:solidFill>
                  <a:latin typeface="DM Sans"/>
                  <a:ea typeface="DM Sans"/>
                  <a:cs typeface="DM Sans"/>
                  <a:sym typeface="DM Sans"/>
                </a:rPr>
                <a:t>TfidfVectorizer</a:t>
              </a:r>
              <a:r>
                <a:rPr lang="en-US" sz="2100" dirty="0">
                  <a:solidFill>
                    <a:srgbClr val="3B4D6B"/>
                  </a:solidFill>
                  <a:latin typeface="DM Sans"/>
                  <a:ea typeface="DM Sans"/>
                  <a:cs typeface="DM Sans"/>
                  <a:sym typeface="DM Sans"/>
                </a:rPr>
                <a:t>(</a:t>
              </a:r>
              <a:r>
                <a:rPr lang="en-US" sz="2100" dirty="0" err="1">
                  <a:solidFill>
                    <a:srgbClr val="3B4D6B"/>
                  </a:solidFill>
                  <a:latin typeface="DM Sans"/>
                  <a:ea typeface="DM Sans"/>
                  <a:cs typeface="DM Sans"/>
                  <a:sym typeface="DM Sans"/>
                </a:rPr>
                <a:t>stop_words</a:t>
              </a:r>
              <a:r>
                <a:rPr lang="en-US" sz="2100" dirty="0">
                  <a:solidFill>
                    <a:srgbClr val="3B4D6B"/>
                  </a:solidFill>
                  <a:latin typeface="DM Sans"/>
                  <a:ea typeface="DM Sans"/>
                  <a:cs typeface="DM Sans"/>
                  <a:sym typeface="DM Sans"/>
                </a:rPr>
                <a:t>="</a:t>
              </a:r>
              <a:r>
                <a:rPr lang="en-US" sz="2100" dirty="0" err="1">
                  <a:solidFill>
                    <a:srgbClr val="3B4D6B"/>
                  </a:solidFill>
                  <a:latin typeface="DM Sans"/>
                  <a:ea typeface="DM Sans"/>
                  <a:cs typeface="DM Sans"/>
                  <a:sym typeface="DM Sans"/>
                </a:rPr>
                <a:t>english</a:t>
              </a:r>
              <a:r>
                <a:rPr lang="en-US" sz="2100" dirty="0">
                  <a:solidFill>
                    <a:srgbClr val="3B4D6B"/>
                  </a:solidFill>
                  <a:latin typeface="DM Sans"/>
                  <a:ea typeface="DM Sans"/>
                  <a:cs typeface="DM Sans"/>
                  <a:sym typeface="DM Sans"/>
                </a:rPr>
                <a:t>", </a:t>
              </a:r>
              <a:r>
                <a:rPr lang="en-US" sz="2100" dirty="0" err="1">
                  <a:solidFill>
                    <a:srgbClr val="3B4D6B"/>
                  </a:solidFill>
                  <a:latin typeface="DM Sans"/>
                  <a:ea typeface="DM Sans"/>
                  <a:cs typeface="DM Sans"/>
                  <a:sym typeface="DM Sans"/>
                </a:rPr>
                <a:t>ngram_range</a:t>
              </a:r>
              <a:r>
                <a:rPr lang="en-US" sz="2100" dirty="0">
                  <a:solidFill>
                    <a:srgbClr val="3B4D6B"/>
                  </a:solidFill>
                  <a:latin typeface="DM Sans"/>
                  <a:ea typeface="DM Sans"/>
                  <a:cs typeface="DM Sans"/>
                  <a:sym typeface="DM Sans"/>
                </a:rPr>
                <a:t>=(1,2))</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Converts text into numerical TF-IDF scores</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Captures important words and short key phrases</a:t>
              </a:r>
            </a:p>
            <a:p>
              <a:pPr algn="l">
                <a:lnSpc>
                  <a:spcPts val="2940"/>
                </a:lnSpc>
              </a:pPr>
              <a:endParaRPr lang="en-US" sz="2100" dirty="0">
                <a:solidFill>
                  <a:srgbClr val="3B4D6B"/>
                </a:solidFill>
                <a:latin typeface="DM Sans"/>
                <a:ea typeface="DM Sans"/>
                <a:cs typeface="DM Sans"/>
                <a:sym typeface="DM Sans"/>
              </a:endParaRPr>
            </a:p>
            <a:p>
              <a:pPr algn="l">
                <a:lnSpc>
                  <a:spcPts val="2940"/>
                </a:lnSpc>
              </a:pPr>
              <a:endParaRPr lang="en-US" sz="2100" dirty="0">
                <a:solidFill>
                  <a:srgbClr val="3B4D6B"/>
                </a:solidFill>
                <a:latin typeface="DM Sans"/>
                <a:ea typeface="DM Sans"/>
                <a:cs typeface="DM Sans"/>
                <a:sym typeface="DM Sans"/>
              </a:endParaRPr>
            </a:p>
          </p:txBody>
        </p:sp>
        <p:sp>
          <p:nvSpPr>
            <p:cNvPr id="8" name="TextBox 8"/>
            <p:cNvSpPr txBox="1"/>
            <p:nvPr/>
          </p:nvSpPr>
          <p:spPr>
            <a:xfrm>
              <a:off x="0" y="-47625"/>
              <a:ext cx="9938349" cy="569172"/>
            </a:xfrm>
            <a:prstGeom prst="rect">
              <a:avLst/>
            </a:prstGeom>
          </p:spPr>
          <p:txBody>
            <a:bodyPr lIns="0" tIns="0" rIns="0" bIns="0" rtlCol="0" anchor="t">
              <a:spAutoFit/>
            </a:bodyPr>
            <a:lstStyle/>
            <a:p>
              <a:pPr algn="l">
                <a:lnSpc>
                  <a:spcPts val="3640"/>
                </a:lnSpc>
              </a:pPr>
              <a:r>
                <a:rPr lang="en-US" sz="2600" b="1">
                  <a:solidFill>
                    <a:srgbClr val="6E91C4"/>
                  </a:solidFill>
                  <a:latin typeface="DM Sans Bold"/>
                  <a:ea typeface="DM Sans Bold"/>
                  <a:cs typeface="DM Sans Bold"/>
                  <a:sym typeface="DM Sans Bold"/>
                </a:rPr>
                <a:t>METHODOLOGY</a:t>
              </a:r>
            </a:p>
          </p:txBody>
        </p:sp>
      </p:grpSp>
      <p:grpSp>
        <p:nvGrpSpPr>
          <p:cNvPr id="9" name="Group 9"/>
          <p:cNvGrpSpPr/>
          <p:nvPr/>
        </p:nvGrpSpPr>
        <p:grpSpPr>
          <a:xfrm>
            <a:off x="9805538" y="4361356"/>
            <a:ext cx="7453762" cy="4954668"/>
            <a:chOff x="0" y="0"/>
            <a:chExt cx="9938349" cy="6606224"/>
          </a:xfrm>
        </p:grpSpPr>
        <p:sp>
          <p:nvSpPr>
            <p:cNvPr id="10" name="TextBox 10"/>
            <p:cNvSpPr txBox="1"/>
            <p:nvPr/>
          </p:nvSpPr>
          <p:spPr>
            <a:xfrm>
              <a:off x="0" y="686119"/>
              <a:ext cx="9938349" cy="5920105"/>
            </a:xfrm>
            <a:prstGeom prst="rect">
              <a:avLst/>
            </a:prstGeom>
          </p:spPr>
          <p:txBody>
            <a:bodyPr lIns="0" tIns="0" rIns="0" bIns="0" rtlCol="0" anchor="t">
              <a:spAutoFit/>
            </a:bodyPr>
            <a:lstStyle/>
            <a:p>
              <a:pPr algn="l">
                <a:lnSpc>
                  <a:spcPts val="2940"/>
                </a:lnSpc>
              </a:pPr>
              <a:r>
                <a:rPr lang="en-US" sz="2100" dirty="0">
                  <a:solidFill>
                    <a:srgbClr val="3B4D6B"/>
                  </a:solidFill>
                  <a:latin typeface="DM Sans"/>
                  <a:ea typeface="DM Sans"/>
                  <a:cs typeface="DM Sans"/>
                  <a:sym typeface="DM Sans"/>
                </a:rPr>
                <a:t>3. Ranking</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TF-IDF score determines word importance</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Higher TF-IDF = more relevant term</a:t>
              </a:r>
            </a:p>
            <a:p>
              <a:pPr algn="l">
                <a:lnSpc>
                  <a:spcPts val="2940"/>
                </a:lnSpc>
              </a:pPr>
              <a:endParaRPr lang="en-US" sz="2100" dirty="0">
                <a:solidFill>
                  <a:srgbClr val="3B4D6B"/>
                </a:solidFill>
                <a:latin typeface="DM Sans"/>
                <a:ea typeface="DM Sans"/>
                <a:cs typeface="DM Sans"/>
                <a:sym typeface="DM Sans"/>
              </a:endParaRPr>
            </a:p>
            <a:p>
              <a:pPr algn="l">
                <a:lnSpc>
                  <a:spcPts val="2940"/>
                </a:lnSpc>
              </a:pPr>
              <a:r>
                <a:rPr lang="en-US" sz="2100" dirty="0">
                  <a:solidFill>
                    <a:srgbClr val="3B4D6B"/>
                  </a:solidFill>
                  <a:latin typeface="DM Sans"/>
                  <a:ea typeface="DM Sans"/>
                  <a:cs typeface="DM Sans"/>
                  <a:sym typeface="DM Sans"/>
                </a:rPr>
                <a:t>4. Keyword Selection</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User-defined controls:</a:t>
              </a:r>
            </a:p>
            <a:p>
              <a:pPr marL="906780" lvl="2" indent="-302260" algn="l">
                <a:lnSpc>
                  <a:spcPts val="2940"/>
                </a:lnSpc>
                <a:buFont typeface="Arial"/>
                <a:buChar char="⚬"/>
              </a:pPr>
              <a:r>
                <a:rPr lang="en-US" sz="2100" dirty="0">
                  <a:solidFill>
                    <a:srgbClr val="3B4D6B"/>
                  </a:solidFill>
                  <a:latin typeface="DM Sans"/>
                  <a:ea typeface="DM Sans"/>
                  <a:cs typeface="DM Sans"/>
                  <a:sym typeface="DM Sans"/>
                </a:rPr>
                <a:t>Max Keywords (e.g., 25)</a:t>
              </a:r>
            </a:p>
            <a:p>
              <a:pPr marL="906780" lvl="2" indent="-302260" algn="l">
                <a:lnSpc>
                  <a:spcPts val="2940"/>
                </a:lnSpc>
                <a:buFont typeface="Arial"/>
                <a:buChar char="⚬"/>
              </a:pPr>
              <a:r>
                <a:rPr lang="en-US" sz="2100" dirty="0">
                  <a:solidFill>
                    <a:srgbClr val="3B4D6B"/>
                  </a:solidFill>
                  <a:latin typeface="DM Sans"/>
                  <a:ea typeface="DM Sans"/>
                  <a:cs typeface="DM Sans"/>
                  <a:sym typeface="DM Sans"/>
                </a:rPr>
                <a:t>Keyword Density (e.g., 35%)</a:t>
              </a:r>
            </a:p>
            <a:p>
              <a:pPr marL="453390" lvl="1" indent="-226695" algn="l">
                <a:lnSpc>
                  <a:spcPts val="2940"/>
                </a:lnSpc>
                <a:buFont typeface="Arial"/>
                <a:buChar char="•"/>
              </a:pPr>
              <a:r>
                <a:rPr lang="en-US" sz="2100" dirty="0">
                  <a:solidFill>
                    <a:srgbClr val="3B4D6B"/>
                  </a:solidFill>
                  <a:latin typeface="DM Sans"/>
                  <a:ea typeface="DM Sans"/>
                  <a:cs typeface="DM Sans"/>
                  <a:sym typeface="DM Sans"/>
                </a:rPr>
                <a:t>Final keywords are selected based on ranking + thresholds</a:t>
              </a:r>
            </a:p>
            <a:p>
              <a:pPr algn="l">
                <a:lnSpc>
                  <a:spcPts val="2940"/>
                </a:lnSpc>
              </a:pPr>
              <a:endParaRPr lang="en-US" sz="2100" dirty="0">
                <a:solidFill>
                  <a:srgbClr val="3B4D6B"/>
                </a:solidFill>
                <a:latin typeface="DM Sans"/>
                <a:ea typeface="DM Sans"/>
                <a:cs typeface="DM Sans"/>
                <a:sym typeface="DM Sans"/>
              </a:endParaRPr>
            </a:p>
            <a:p>
              <a:pPr algn="l">
                <a:lnSpc>
                  <a:spcPts val="2940"/>
                </a:lnSpc>
              </a:pPr>
              <a:endParaRPr lang="en-US" sz="2100" dirty="0">
                <a:solidFill>
                  <a:srgbClr val="3B4D6B"/>
                </a:solidFill>
                <a:latin typeface="DM Sans"/>
                <a:ea typeface="DM Sans"/>
                <a:cs typeface="DM Sans"/>
                <a:sym typeface="DM Sans"/>
              </a:endParaRPr>
            </a:p>
          </p:txBody>
        </p:sp>
        <p:sp>
          <p:nvSpPr>
            <p:cNvPr id="11" name="TextBox 11"/>
            <p:cNvSpPr txBox="1"/>
            <p:nvPr/>
          </p:nvSpPr>
          <p:spPr>
            <a:xfrm>
              <a:off x="0" y="-47625"/>
              <a:ext cx="9938349" cy="569172"/>
            </a:xfrm>
            <a:prstGeom prst="rect">
              <a:avLst/>
            </a:prstGeom>
          </p:spPr>
          <p:txBody>
            <a:bodyPr lIns="0" tIns="0" rIns="0" bIns="0" rtlCol="0" anchor="t">
              <a:spAutoFit/>
            </a:bodyPr>
            <a:lstStyle/>
            <a:p>
              <a:pPr algn="l">
                <a:lnSpc>
                  <a:spcPts val="3640"/>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E8FC"/>
        </a:solidFill>
        <a:effectLst/>
      </p:bgPr>
    </p:bg>
    <p:spTree>
      <p:nvGrpSpPr>
        <p:cNvPr id="1" name=""/>
        <p:cNvGrpSpPr/>
        <p:nvPr/>
      </p:nvGrpSpPr>
      <p:grpSpPr>
        <a:xfrm>
          <a:off x="0" y="0"/>
          <a:ext cx="0" cy="0"/>
          <a:chOff x="0" y="0"/>
          <a:chExt cx="0" cy="0"/>
        </a:xfrm>
      </p:grpSpPr>
      <p:sp>
        <p:nvSpPr>
          <p:cNvPr id="2" name="TextBox 2"/>
          <p:cNvSpPr txBox="1"/>
          <p:nvPr/>
        </p:nvSpPr>
        <p:spPr>
          <a:xfrm>
            <a:off x="1028700" y="1095375"/>
            <a:ext cx="9258300" cy="1149350"/>
          </a:xfrm>
          <a:prstGeom prst="rect">
            <a:avLst/>
          </a:prstGeom>
        </p:spPr>
        <p:txBody>
          <a:bodyPr wrap="square" lIns="0" tIns="0" rIns="0" bIns="0" rtlCol="0" anchor="t">
            <a:spAutoFit/>
          </a:bodyPr>
          <a:lstStyle/>
          <a:p>
            <a:pPr algn="l">
              <a:lnSpc>
                <a:spcPts val="8800"/>
              </a:lnSpc>
            </a:pPr>
            <a:r>
              <a:rPr lang="en-US" sz="8000" dirty="0">
                <a:solidFill>
                  <a:srgbClr val="3B4D6B"/>
                </a:solidFill>
                <a:latin typeface="Georgia"/>
                <a:ea typeface="Georgia"/>
                <a:cs typeface="Georgia"/>
                <a:sym typeface="Georgia"/>
              </a:rPr>
              <a:t>Technologies Used</a:t>
            </a:r>
          </a:p>
        </p:txBody>
      </p:sp>
      <p:sp>
        <p:nvSpPr>
          <p:cNvPr id="3" name="TextBox 3"/>
          <p:cNvSpPr txBox="1"/>
          <p:nvPr/>
        </p:nvSpPr>
        <p:spPr>
          <a:xfrm>
            <a:off x="1028700" y="2973268"/>
            <a:ext cx="11180213" cy="5043170"/>
          </a:xfrm>
          <a:prstGeom prst="rect">
            <a:avLst/>
          </a:prstGeom>
        </p:spPr>
        <p:txBody>
          <a:bodyPr lIns="0" tIns="0" rIns="0" bIns="0" rtlCol="0" anchor="t">
            <a:spAutoFit/>
          </a:bodyPr>
          <a:lstStyle/>
          <a:p>
            <a:pPr marL="731521" lvl="2" indent="-243840" algn="l">
              <a:lnSpc>
                <a:spcPts val="4480"/>
              </a:lnSpc>
              <a:buFont typeface="Arial"/>
              <a:buChar char="⚬"/>
            </a:pPr>
            <a:r>
              <a:rPr lang="en-US" sz="3200" dirty="0">
                <a:solidFill>
                  <a:srgbClr val="3B4D6B"/>
                </a:solidFill>
                <a:latin typeface="DM Sans"/>
                <a:ea typeface="DM Sans"/>
                <a:cs typeface="DM Sans"/>
                <a:sym typeface="DM Sans"/>
              </a:rPr>
              <a:t>Programming &amp; Frameworks:</a:t>
            </a:r>
          </a:p>
          <a:p>
            <a:pPr marL="1307254" lvl="3" indent="-326814" algn="l">
              <a:lnSpc>
                <a:spcPts val="4480"/>
              </a:lnSpc>
              <a:buFont typeface="Arial"/>
              <a:buChar char="￭"/>
            </a:pPr>
            <a:r>
              <a:rPr lang="en-US" sz="3200" dirty="0">
                <a:solidFill>
                  <a:srgbClr val="3B4D6B"/>
                </a:solidFill>
                <a:latin typeface="DM Sans"/>
                <a:ea typeface="DM Sans"/>
                <a:cs typeface="DM Sans"/>
                <a:sym typeface="DM Sans"/>
              </a:rPr>
              <a:t> Python, Flask, </a:t>
            </a:r>
            <a:r>
              <a:rPr lang="en-US" sz="3200" dirty="0" err="1">
                <a:solidFill>
                  <a:srgbClr val="3B4D6B"/>
                </a:solidFill>
                <a:latin typeface="DM Sans"/>
                <a:ea typeface="DM Sans"/>
                <a:cs typeface="DM Sans"/>
                <a:sym typeface="DM Sans"/>
              </a:rPr>
              <a:t>FastAPI</a:t>
            </a:r>
            <a:r>
              <a:rPr lang="en-US" sz="3200" dirty="0">
                <a:solidFill>
                  <a:srgbClr val="3B4D6B"/>
                </a:solidFill>
                <a:latin typeface="DM Sans"/>
                <a:ea typeface="DM Sans"/>
                <a:cs typeface="DM Sans"/>
                <a:sym typeface="DM Sans"/>
              </a:rPr>
              <a:t>, Starlette</a:t>
            </a:r>
          </a:p>
          <a:p>
            <a:pPr marL="731521" lvl="2" indent="-243840" algn="l">
              <a:lnSpc>
                <a:spcPts val="4480"/>
              </a:lnSpc>
              <a:buFont typeface="Arial"/>
              <a:buChar char="⚬"/>
            </a:pPr>
            <a:r>
              <a:rPr lang="en-US" sz="3200" dirty="0">
                <a:solidFill>
                  <a:srgbClr val="3B4D6B"/>
                </a:solidFill>
                <a:latin typeface="DM Sans"/>
                <a:ea typeface="DM Sans"/>
                <a:cs typeface="DM Sans"/>
                <a:sym typeface="DM Sans"/>
              </a:rPr>
              <a:t>NLP &amp; ML:</a:t>
            </a:r>
          </a:p>
          <a:p>
            <a:pPr marL="1307254" lvl="3" indent="-326814" algn="l">
              <a:lnSpc>
                <a:spcPts val="4480"/>
              </a:lnSpc>
              <a:buFont typeface="Arial"/>
              <a:buChar char="￭"/>
            </a:pPr>
            <a:r>
              <a:rPr lang="en-US" sz="3200" dirty="0">
                <a:solidFill>
                  <a:srgbClr val="3B4D6B"/>
                </a:solidFill>
                <a:latin typeface="DM Sans"/>
                <a:ea typeface="DM Sans"/>
                <a:cs typeface="DM Sans"/>
                <a:sym typeface="DM Sans"/>
              </a:rPr>
              <a:t> Scikit-learn (TF-IDF Vectorizer)</a:t>
            </a:r>
          </a:p>
          <a:p>
            <a:pPr marL="731521" lvl="2" indent="-243840" algn="l">
              <a:lnSpc>
                <a:spcPts val="4480"/>
              </a:lnSpc>
              <a:buFont typeface="Arial"/>
              <a:buChar char="⚬"/>
            </a:pPr>
            <a:r>
              <a:rPr lang="en-US" sz="3200" dirty="0">
                <a:solidFill>
                  <a:srgbClr val="3B4D6B"/>
                </a:solidFill>
                <a:latin typeface="DM Sans"/>
                <a:ea typeface="DM Sans"/>
                <a:cs typeface="DM Sans"/>
                <a:sym typeface="DM Sans"/>
              </a:rPr>
              <a:t>Frontend:</a:t>
            </a:r>
          </a:p>
          <a:p>
            <a:pPr marL="1307254" lvl="3" indent="-326814" algn="l">
              <a:lnSpc>
                <a:spcPts val="4480"/>
              </a:lnSpc>
              <a:buFont typeface="Arial"/>
              <a:buChar char="￭"/>
            </a:pPr>
            <a:r>
              <a:rPr lang="en-US" sz="3200" dirty="0">
                <a:solidFill>
                  <a:srgbClr val="3B4D6B"/>
                </a:solidFill>
                <a:latin typeface="DM Sans"/>
                <a:ea typeface="DM Sans"/>
                <a:cs typeface="DM Sans"/>
                <a:sym typeface="DM Sans"/>
              </a:rPr>
              <a:t> HTML, CSS, JavaScript </a:t>
            </a:r>
          </a:p>
          <a:p>
            <a:pPr marL="731521" lvl="2" indent="-243840" algn="l">
              <a:lnSpc>
                <a:spcPts val="4480"/>
              </a:lnSpc>
              <a:buFont typeface="Arial"/>
              <a:buChar char="⚬"/>
            </a:pPr>
            <a:r>
              <a:rPr lang="en-US" sz="3200" dirty="0">
                <a:solidFill>
                  <a:srgbClr val="3B4D6B"/>
                </a:solidFill>
                <a:latin typeface="DM Sans"/>
                <a:ea typeface="DM Sans"/>
                <a:cs typeface="DM Sans"/>
                <a:sym typeface="DM Sans"/>
              </a:rPr>
              <a:t>Server &amp; Tools:</a:t>
            </a:r>
          </a:p>
          <a:p>
            <a:pPr marL="1307254" lvl="3" indent="-326814" algn="l">
              <a:lnSpc>
                <a:spcPts val="4480"/>
              </a:lnSpc>
              <a:buFont typeface="Arial"/>
              <a:buChar char="￭"/>
            </a:pPr>
            <a:r>
              <a:rPr lang="en-US" sz="3200" dirty="0">
                <a:solidFill>
                  <a:srgbClr val="3B4D6B"/>
                </a:solidFill>
                <a:latin typeface="DM Sans"/>
                <a:ea typeface="DM Sans"/>
                <a:cs typeface="DM Sans"/>
                <a:sym typeface="DM Sans"/>
              </a:rPr>
              <a:t> </a:t>
            </a:r>
            <a:r>
              <a:rPr lang="en-US" sz="3200" dirty="0" err="1">
                <a:solidFill>
                  <a:srgbClr val="3B4D6B"/>
                </a:solidFill>
                <a:latin typeface="DM Sans"/>
                <a:ea typeface="DM Sans"/>
                <a:cs typeface="DM Sans"/>
                <a:sym typeface="DM Sans"/>
              </a:rPr>
              <a:t>Uvicorn</a:t>
            </a:r>
            <a:r>
              <a:rPr lang="en-US" sz="3200" dirty="0">
                <a:solidFill>
                  <a:srgbClr val="3B4D6B"/>
                </a:solidFill>
                <a:latin typeface="DM Sans"/>
                <a:ea typeface="DM Sans"/>
                <a:cs typeface="DM Sans"/>
                <a:sym typeface="DM Sans"/>
              </a:rPr>
              <a:t>, </a:t>
            </a:r>
            <a:r>
              <a:rPr lang="en-US" sz="3200" dirty="0" err="1">
                <a:solidFill>
                  <a:srgbClr val="3B4D6B"/>
                </a:solidFill>
                <a:latin typeface="DM Sans"/>
                <a:ea typeface="DM Sans"/>
                <a:cs typeface="DM Sans"/>
                <a:sym typeface="DM Sans"/>
              </a:rPr>
              <a:t>Pydantic</a:t>
            </a:r>
            <a:r>
              <a:rPr lang="en-US" sz="3200" dirty="0">
                <a:solidFill>
                  <a:srgbClr val="3B4D6B"/>
                </a:solidFill>
                <a:latin typeface="DM Sans"/>
                <a:ea typeface="DM Sans"/>
                <a:cs typeface="DM Sans"/>
                <a:sym typeface="DM Sans"/>
              </a:rPr>
              <a:t> validation, </a:t>
            </a:r>
            <a:r>
              <a:rPr lang="en-US" sz="3200" dirty="0" err="1">
                <a:solidFill>
                  <a:srgbClr val="3B4D6B"/>
                </a:solidFill>
                <a:latin typeface="DM Sans"/>
                <a:ea typeface="DM Sans"/>
                <a:cs typeface="DM Sans"/>
                <a:sym typeface="DM Sans"/>
              </a:rPr>
              <a:t>pytest</a:t>
            </a:r>
            <a:r>
              <a:rPr lang="en-US" sz="3200" dirty="0">
                <a:solidFill>
                  <a:srgbClr val="3B4D6B"/>
                </a:solidFill>
                <a:latin typeface="DM Sans"/>
                <a:ea typeface="DM Sans"/>
                <a:cs typeface="DM Sans"/>
                <a:sym typeface="DM Sans"/>
              </a:rPr>
              <a:t> testing</a:t>
            </a:r>
          </a:p>
          <a:p>
            <a:pPr marL="1307254" lvl="3" indent="-326814" algn="l">
              <a:lnSpc>
                <a:spcPts val="4480"/>
              </a:lnSpc>
            </a:pPr>
            <a:endParaRPr lang="en-US" sz="3200" dirty="0">
              <a:solidFill>
                <a:srgbClr val="3B4D6B"/>
              </a:solidFill>
              <a:latin typeface="DM Sans"/>
              <a:ea typeface="DM Sans"/>
              <a:cs typeface="DM Sans"/>
              <a:sym typeface="DM Sans"/>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E8FC"/>
        </a:solidFill>
        <a:effectLst/>
      </p:bgPr>
    </p:bg>
    <p:spTree>
      <p:nvGrpSpPr>
        <p:cNvPr id="1" name=""/>
        <p:cNvGrpSpPr/>
        <p:nvPr/>
      </p:nvGrpSpPr>
      <p:grpSpPr>
        <a:xfrm>
          <a:off x="0" y="0"/>
          <a:ext cx="0" cy="0"/>
          <a:chOff x="0" y="0"/>
          <a:chExt cx="0" cy="0"/>
        </a:xfrm>
      </p:grpSpPr>
      <p:sp>
        <p:nvSpPr>
          <p:cNvPr id="2" name="TextBox 2"/>
          <p:cNvSpPr txBox="1"/>
          <p:nvPr/>
        </p:nvSpPr>
        <p:spPr>
          <a:xfrm>
            <a:off x="368617" y="487362"/>
            <a:ext cx="8775383" cy="1149350"/>
          </a:xfrm>
          <a:prstGeom prst="rect">
            <a:avLst/>
          </a:prstGeom>
        </p:spPr>
        <p:txBody>
          <a:bodyPr lIns="0" tIns="0" rIns="0" bIns="0" rtlCol="0" anchor="t">
            <a:spAutoFit/>
          </a:bodyPr>
          <a:lstStyle/>
          <a:p>
            <a:pPr algn="l">
              <a:lnSpc>
                <a:spcPts val="8800"/>
              </a:lnSpc>
            </a:pPr>
            <a:r>
              <a:rPr lang="en-US" sz="8000">
                <a:solidFill>
                  <a:srgbClr val="3B4D6B"/>
                </a:solidFill>
                <a:latin typeface="Georgia"/>
                <a:ea typeface="Georgia"/>
                <a:cs typeface="Georgia"/>
                <a:sym typeface="Georgia"/>
              </a:rPr>
              <a:t>Results &amp; Findings</a:t>
            </a:r>
          </a:p>
        </p:txBody>
      </p:sp>
      <p:grpSp>
        <p:nvGrpSpPr>
          <p:cNvPr id="3" name="Group 3"/>
          <p:cNvGrpSpPr/>
          <p:nvPr/>
        </p:nvGrpSpPr>
        <p:grpSpPr>
          <a:xfrm>
            <a:off x="601009" y="2238111"/>
            <a:ext cx="7910512" cy="3146913"/>
            <a:chOff x="0" y="0"/>
            <a:chExt cx="10547350" cy="4195884"/>
          </a:xfrm>
        </p:grpSpPr>
        <p:sp>
          <p:nvSpPr>
            <p:cNvPr id="4" name="TextBox 4"/>
            <p:cNvSpPr txBox="1"/>
            <p:nvPr/>
          </p:nvSpPr>
          <p:spPr>
            <a:xfrm>
              <a:off x="0" y="492393"/>
              <a:ext cx="9948325" cy="3703491"/>
            </a:xfrm>
            <a:prstGeom prst="rect">
              <a:avLst/>
            </a:prstGeom>
          </p:spPr>
          <p:txBody>
            <a:bodyPr lIns="0" tIns="0" rIns="0" bIns="0" rtlCol="0" anchor="t">
              <a:spAutoFit/>
            </a:bodyPr>
            <a:lstStyle/>
            <a:p>
              <a:pPr marL="525669" lvl="2" indent="-175223" algn="l">
                <a:lnSpc>
                  <a:spcPts val="3219"/>
                </a:lnSpc>
                <a:buFont typeface="Arial"/>
                <a:buChar char="⚬"/>
              </a:pPr>
              <a:r>
                <a:rPr lang="en-US" sz="2298" dirty="0">
                  <a:solidFill>
                    <a:srgbClr val="3B4D6B"/>
                  </a:solidFill>
                  <a:latin typeface="DM Sans"/>
                  <a:ea typeface="DM Sans"/>
                  <a:cs typeface="DM Sans"/>
                  <a:sym typeface="DM Sans"/>
                </a:rPr>
                <a:t>Successfully extracts relevant keywords from long documents</a:t>
              </a:r>
            </a:p>
            <a:p>
              <a:pPr marL="525669" lvl="2" indent="-175223" algn="l">
                <a:lnSpc>
                  <a:spcPts val="3219"/>
                </a:lnSpc>
                <a:buFont typeface="Arial"/>
                <a:buChar char="⚬"/>
              </a:pPr>
              <a:r>
                <a:rPr lang="en-US" sz="2298" dirty="0">
                  <a:solidFill>
                    <a:srgbClr val="3B4D6B"/>
                  </a:solidFill>
                  <a:latin typeface="DM Sans"/>
                  <a:ea typeface="DM Sans"/>
                  <a:cs typeface="DM Sans"/>
                  <a:sym typeface="DM Sans"/>
                </a:rPr>
                <a:t>Captures meaningful single and double-word phrases</a:t>
              </a:r>
            </a:p>
            <a:p>
              <a:pPr marL="525669" lvl="2" indent="-175223" algn="l">
                <a:lnSpc>
                  <a:spcPts val="3219"/>
                </a:lnSpc>
                <a:buFont typeface="Arial"/>
                <a:buChar char="⚬"/>
              </a:pPr>
              <a:r>
                <a:rPr lang="en-US" sz="2298" dirty="0">
                  <a:solidFill>
                    <a:srgbClr val="3B4D6B"/>
                  </a:solidFill>
                  <a:latin typeface="DM Sans"/>
                  <a:ea typeface="DM Sans"/>
                  <a:cs typeface="DM Sans"/>
                  <a:sym typeface="DM Sans"/>
                </a:rPr>
                <a:t>Works well for articles, blogs, and project summaries</a:t>
              </a:r>
            </a:p>
            <a:p>
              <a:pPr marL="525669" lvl="2" indent="-175223" algn="l">
                <a:lnSpc>
                  <a:spcPts val="3219"/>
                </a:lnSpc>
                <a:buFont typeface="Arial"/>
                <a:buChar char="⚬"/>
              </a:pPr>
              <a:r>
                <a:rPr lang="en-US" sz="2298" dirty="0">
                  <a:solidFill>
                    <a:srgbClr val="3B4D6B"/>
                  </a:solidFill>
                  <a:latin typeface="DM Sans"/>
                  <a:ea typeface="DM Sans"/>
                  <a:cs typeface="DM Sans"/>
                  <a:sym typeface="DM Sans"/>
                </a:rPr>
                <a:t>Helps quickly identify main topics and concepts</a:t>
              </a:r>
            </a:p>
          </p:txBody>
        </p:sp>
        <p:sp>
          <p:nvSpPr>
            <p:cNvPr id="5" name="TextBox 5"/>
            <p:cNvSpPr txBox="1"/>
            <p:nvPr/>
          </p:nvSpPr>
          <p:spPr>
            <a:xfrm>
              <a:off x="0" y="-47625"/>
              <a:ext cx="10547350" cy="525145"/>
            </a:xfrm>
            <a:prstGeom prst="rect">
              <a:avLst/>
            </a:prstGeom>
          </p:spPr>
          <p:txBody>
            <a:bodyPr lIns="0" tIns="0" rIns="0" bIns="0" rtlCol="0" anchor="t">
              <a:spAutoFit/>
            </a:bodyPr>
            <a:lstStyle/>
            <a:p>
              <a:pPr algn="l">
                <a:lnSpc>
                  <a:spcPts val="3360"/>
                </a:lnSpc>
              </a:pPr>
              <a:r>
                <a:rPr lang="en-US" sz="2400" b="1">
                  <a:solidFill>
                    <a:srgbClr val="6E91C4"/>
                  </a:solidFill>
                  <a:latin typeface="DM Sans Bold"/>
                  <a:ea typeface="DM Sans Bold"/>
                  <a:cs typeface="DM Sans Bold"/>
                  <a:sym typeface="DM Sans Bold"/>
                </a:rPr>
                <a:t>RESULTS</a:t>
              </a:r>
            </a:p>
          </p:txBody>
        </p:sp>
      </p:grpSp>
      <p:grpSp>
        <p:nvGrpSpPr>
          <p:cNvPr id="6" name="Group 6"/>
          <p:cNvGrpSpPr/>
          <p:nvPr/>
        </p:nvGrpSpPr>
        <p:grpSpPr>
          <a:xfrm>
            <a:off x="601009" y="5635281"/>
            <a:ext cx="8115300" cy="3950174"/>
            <a:chOff x="0" y="0"/>
            <a:chExt cx="10820400" cy="5266898"/>
          </a:xfrm>
        </p:grpSpPr>
        <p:sp>
          <p:nvSpPr>
            <p:cNvPr id="7" name="TextBox 7"/>
            <p:cNvSpPr txBox="1"/>
            <p:nvPr/>
          </p:nvSpPr>
          <p:spPr>
            <a:xfrm>
              <a:off x="0" y="496570"/>
              <a:ext cx="10820400" cy="4770329"/>
            </a:xfrm>
            <a:prstGeom prst="rect">
              <a:avLst/>
            </a:prstGeom>
          </p:spPr>
          <p:txBody>
            <a:bodyPr lIns="0" tIns="0" rIns="0" bIns="0" rtlCol="0" anchor="t">
              <a:spAutoFit/>
            </a:bodyPr>
            <a:lstStyle/>
            <a:p>
              <a:pPr marL="525551" lvl="2" indent="-175184" algn="l">
                <a:lnSpc>
                  <a:spcPts val="3218"/>
                </a:lnSpc>
                <a:buFont typeface="Arial"/>
                <a:buChar char="⚬"/>
              </a:pPr>
              <a:r>
                <a:rPr lang="en-US" sz="2298" dirty="0">
                  <a:solidFill>
                    <a:srgbClr val="3B4D6B"/>
                  </a:solidFill>
                  <a:latin typeface="DM Sans"/>
                  <a:ea typeface="DM Sans"/>
                  <a:cs typeface="DM Sans"/>
                  <a:sym typeface="DM Sans"/>
                </a:rPr>
                <a:t>TF-IDF effectively identifies the most relevant and important keywords from the text.</a:t>
              </a:r>
            </a:p>
            <a:p>
              <a:pPr marL="525551" lvl="2" indent="-175184" algn="l">
                <a:lnSpc>
                  <a:spcPts val="3218"/>
                </a:lnSpc>
                <a:buFont typeface="Arial"/>
                <a:buChar char="⚬"/>
              </a:pPr>
              <a:r>
                <a:rPr lang="en-US" sz="2298" dirty="0">
                  <a:solidFill>
                    <a:srgbClr val="3B4D6B"/>
                  </a:solidFill>
                  <a:latin typeface="DM Sans"/>
                  <a:ea typeface="DM Sans"/>
                  <a:cs typeface="DM Sans"/>
                  <a:sym typeface="DM Sans"/>
                </a:rPr>
                <a:t>Preprocessing steps like cleaning and stop-word removal significantly improve keyword accuracy.</a:t>
              </a:r>
            </a:p>
            <a:p>
              <a:pPr marL="525551" lvl="2" indent="-175184" algn="l">
                <a:lnSpc>
                  <a:spcPts val="3218"/>
                </a:lnSpc>
                <a:buFont typeface="Arial"/>
                <a:buChar char="⚬"/>
              </a:pPr>
              <a:r>
                <a:rPr lang="en-US" sz="2298" dirty="0">
                  <a:solidFill>
                    <a:srgbClr val="3B4D6B"/>
                  </a:solidFill>
                  <a:latin typeface="DM Sans"/>
                  <a:ea typeface="DM Sans"/>
                  <a:cs typeface="DM Sans"/>
                  <a:sym typeface="DM Sans"/>
                </a:rPr>
                <a:t>The system provides fast and consistent results, even for moderately large text inputs.</a:t>
              </a:r>
            </a:p>
            <a:p>
              <a:pPr marL="525551" lvl="2" indent="-175184" algn="l">
                <a:lnSpc>
                  <a:spcPts val="3218"/>
                </a:lnSpc>
                <a:buFont typeface="Arial"/>
                <a:buChar char="⚬"/>
              </a:pPr>
              <a:r>
                <a:rPr lang="en-US" sz="2298" dirty="0">
                  <a:solidFill>
                    <a:srgbClr val="3B4D6B"/>
                  </a:solidFill>
                  <a:latin typeface="DM Sans"/>
                  <a:ea typeface="DM Sans"/>
                  <a:cs typeface="DM Sans"/>
                  <a:sym typeface="DM Sans"/>
                </a:rPr>
                <a:t>The approach is domain-independent, working well for different types of documents and content.</a:t>
              </a:r>
            </a:p>
            <a:p>
              <a:pPr algn="l">
                <a:lnSpc>
                  <a:spcPts val="3219"/>
                </a:lnSpc>
              </a:pPr>
              <a:endParaRPr lang="en-US" sz="2298" dirty="0">
                <a:solidFill>
                  <a:srgbClr val="3B4D6B"/>
                </a:solidFill>
                <a:latin typeface="DM Sans"/>
                <a:ea typeface="DM Sans"/>
                <a:cs typeface="DM Sans"/>
                <a:sym typeface="DM Sans"/>
              </a:endParaRPr>
            </a:p>
          </p:txBody>
        </p:sp>
        <p:sp>
          <p:nvSpPr>
            <p:cNvPr id="8" name="TextBox 8"/>
            <p:cNvSpPr txBox="1"/>
            <p:nvPr/>
          </p:nvSpPr>
          <p:spPr>
            <a:xfrm>
              <a:off x="0" y="-47625"/>
              <a:ext cx="10820400" cy="525145"/>
            </a:xfrm>
            <a:prstGeom prst="rect">
              <a:avLst/>
            </a:prstGeom>
          </p:spPr>
          <p:txBody>
            <a:bodyPr lIns="0" tIns="0" rIns="0" bIns="0" rtlCol="0" anchor="t">
              <a:spAutoFit/>
            </a:bodyPr>
            <a:lstStyle/>
            <a:p>
              <a:pPr algn="l">
                <a:lnSpc>
                  <a:spcPts val="3360"/>
                </a:lnSpc>
              </a:pPr>
              <a:r>
                <a:rPr lang="en-US" sz="2400" b="1">
                  <a:solidFill>
                    <a:srgbClr val="6E91C4"/>
                  </a:solidFill>
                  <a:latin typeface="DM Sans Bold"/>
                  <a:ea typeface="DM Sans Bold"/>
                  <a:cs typeface="DM Sans Bold"/>
                  <a:sym typeface="DM Sans Bold"/>
                </a:rPr>
                <a:t>FINDINGS</a:t>
              </a:r>
            </a:p>
          </p:txBody>
        </p:sp>
      </p:grpSp>
      <p:grpSp>
        <p:nvGrpSpPr>
          <p:cNvPr id="9" name="Group 9"/>
          <p:cNvGrpSpPr/>
          <p:nvPr/>
        </p:nvGrpSpPr>
        <p:grpSpPr>
          <a:xfrm>
            <a:off x="9144000" y="361065"/>
            <a:ext cx="8671095" cy="9564869"/>
            <a:chOff x="0" y="0"/>
            <a:chExt cx="11561460" cy="12753159"/>
          </a:xfrm>
        </p:grpSpPr>
        <p:sp>
          <p:nvSpPr>
            <p:cNvPr id="10" name="Freeform 10"/>
            <p:cNvSpPr/>
            <p:nvPr/>
          </p:nvSpPr>
          <p:spPr>
            <a:xfrm>
              <a:off x="0" y="0"/>
              <a:ext cx="11561445" cy="12753213"/>
            </a:xfrm>
            <a:custGeom>
              <a:avLst/>
              <a:gdLst/>
              <a:ahLst/>
              <a:cxnLst/>
              <a:rect l="l" t="t" r="r" b="b"/>
              <a:pathLst>
                <a:path w="11561445" h="12753213">
                  <a:moveTo>
                    <a:pt x="0" y="0"/>
                  </a:moveTo>
                  <a:lnTo>
                    <a:pt x="11561445" y="0"/>
                  </a:lnTo>
                  <a:lnTo>
                    <a:pt x="11561445" y="12753213"/>
                  </a:lnTo>
                  <a:lnTo>
                    <a:pt x="0" y="12753213"/>
                  </a:lnTo>
                  <a:lnTo>
                    <a:pt x="0" y="0"/>
                  </a:lnTo>
                  <a:close/>
                </a:path>
              </a:pathLst>
            </a:custGeom>
            <a:blipFill>
              <a:blip r:embed="rId2"/>
              <a:stretch>
                <a:fillRect t="-2226" b="-2225"/>
              </a:stretch>
            </a:blipFill>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E8FC"/>
        </a:solidFill>
        <a:effectLst/>
      </p:bgPr>
    </p:bg>
    <p:spTree>
      <p:nvGrpSpPr>
        <p:cNvPr id="1" name=""/>
        <p:cNvGrpSpPr/>
        <p:nvPr/>
      </p:nvGrpSpPr>
      <p:grpSpPr>
        <a:xfrm>
          <a:off x="0" y="0"/>
          <a:ext cx="0" cy="0"/>
          <a:chOff x="0" y="0"/>
          <a:chExt cx="0" cy="0"/>
        </a:xfrm>
      </p:grpSpPr>
      <p:sp>
        <p:nvSpPr>
          <p:cNvPr id="2" name="TextBox 2"/>
          <p:cNvSpPr txBox="1"/>
          <p:nvPr/>
        </p:nvSpPr>
        <p:spPr>
          <a:xfrm>
            <a:off x="1028700" y="1095375"/>
            <a:ext cx="12692130" cy="1149350"/>
          </a:xfrm>
          <a:prstGeom prst="rect">
            <a:avLst/>
          </a:prstGeom>
        </p:spPr>
        <p:txBody>
          <a:bodyPr lIns="0" tIns="0" rIns="0" bIns="0" rtlCol="0" anchor="t">
            <a:spAutoFit/>
          </a:bodyPr>
          <a:lstStyle/>
          <a:p>
            <a:pPr algn="l">
              <a:lnSpc>
                <a:spcPts val="8800"/>
              </a:lnSpc>
            </a:pPr>
            <a:r>
              <a:rPr lang="en-US" sz="8000">
                <a:solidFill>
                  <a:srgbClr val="3B4D6B"/>
                </a:solidFill>
                <a:latin typeface="Georgia"/>
                <a:ea typeface="Georgia"/>
                <a:cs typeface="Georgia"/>
                <a:sym typeface="Georgia"/>
              </a:rPr>
              <a:t>Conclusion &amp; Future Sc0pe</a:t>
            </a:r>
          </a:p>
        </p:txBody>
      </p:sp>
      <p:sp>
        <p:nvSpPr>
          <p:cNvPr id="3" name="TextBox 3"/>
          <p:cNvSpPr txBox="1"/>
          <p:nvPr/>
        </p:nvSpPr>
        <p:spPr>
          <a:xfrm>
            <a:off x="1028700" y="2987557"/>
            <a:ext cx="5740922" cy="3656965"/>
          </a:xfrm>
          <a:prstGeom prst="rect">
            <a:avLst/>
          </a:prstGeom>
        </p:spPr>
        <p:txBody>
          <a:bodyPr lIns="0" tIns="0" rIns="0" bIns="0" rtlCol="0" anchor="t">
            <a:spAutoFit/>
          </a:bodyPr>
          <a:lstStyle/>
          <a:p>
            <a:pPr algn="l">
              <a:lnSpc>
                <a:spcPts val="3779"/>
              </a:lnSpc>
            </a:pPr>
            <a:r>
              <a:rPr lang="en-US" sz="2700" b="1" dirty="0">
                <a:solidFill>
                  <a:srgbClr val="6E91C4"/>
                </a:solidFill>
                <a:latin typeface="DM Sans Bold"/>
                <a:ea typeface="DM Sans Bold"/>
                <a:cs typeface="DM Sans Bold"/>
                <a:sym typeface="DM Sans Bold"/>
              </a:rPr>
              <a:t>CONCLUSION</a:t>
            </a:r>
          </a:p>
          <a:p>
            <a:pPr algn="l">
              <a:lnSpc>
                <a:spcPts val="3640"/>
              </a:lnSpc>
            </a:pPr>
            <a:r>
              <a:rPr lang="en-US" sz="2600" dirty="0">
                <a:solidFill>
                  <a:srgbClr val="3B4D6B"/>
                </a:solidFill>
                <a:latin typeface="DM Sans"/>
                <a:ea typeface="DM Sans"/>
                <a:cs typeface="DM Sans"/>
                <a:sym typeface="DM Sans"/>
              </a:rPr>
              <a:t>The project accomplishes its goal of extracting meaningful keywords using a TF-IDF-based approach. The system is fast, reliable, and user-friendly, making it suitable for summarization, search optimization, and content analysis</a:t>
            </a:r>
          </a:p>
        </p:txBody>
      </p:sp>
      <p:grpSp>
        <p:nvGrpSpPr>
          <p:cNvPr id="4" name="Group 4"/>
          <p:cNvGrpSpPr/>
          <p:nvPr/>
        </p:nvGrpSpPr>
        <p:grpSpPr>
          <a:xfrm>
            <a:off x="8373488" y="3035182"/>
            <a:ext cx="8115300" cy="3995894"/>
            <a:chOff x="0" y="0"/>
            <a:chExt cx="10820400" cy="5327859"/>
          </a:xfrm>
        </p:grpSpPr>
        <p:sp>
          <p:nvSpPr>
            <p:cNvPr id="5" name="TextBox 5"/>
            <p:cNvSpPr txBox="1"/>
            <p:nvPr/>
          </p:nvSpPr>
          <p:spPr>
            <a:xfrm>
              <a:off x="0" y="562610"/>
              <a:ext cx="10820400" cy="4765249"/>
            </a:xfrm>
            <a:prstGeom prst="rect">
              <a:avLst/>
            </a:prstGeom>
          </p:spPr>
          <p:txBody>
            <a:bodyPr lIns="0" tIns="0" rIns="0" bIns="0" rtlCol="0" anchor="t">
              <a:spAutoFit/>
            </a:bodyPr>
            <a:lstStyle/>
            <a:p>
              <a:pPr marL="594129" lvl="2" indent="-198043" algn="l">
                <a:lnSpc>
                  <a:spcPts val="3638"/>
                </a:lnSpc>
                <a:buFont typeface="Arial"/>
                <a:buChar char="⚬"/>
              </a:pPr>
              <a:r>
                <a:rPr lang="en-US" sz="2598" dirty="0">
                  <a:solidFill>
                    <a:srgbClr val="3B4D6B"/>
                  </a:solidFill>
                  <a:latin typeface="DM Sans"/>
                  <a:ea typeface="DM Sans"/>
                  <a:cs typeface="DM Sans"/>
                  <a:sym typeface="DM Sans"/>
                </a:rPr>
                <a:t>Add </a:t>
              </a:r>
              <a:r>
                <a:rPr lang="en-US" sz="2598" dirty="0" err="1">
                  <a:solidFill>
                    <a:srgbClr val="3B4D6B"/>
                  </a:solidFill>
                  <a:latin typeface="DM Sans"/>
                  <a:ea typeface="DM Sans"/>
                  <a:cs typeface="DM Sans"/>
                  <a:sym typeface="DM Sans"/>
                </a:rPr>
                <a:t>spaCy</a:t>
              </a:r>
              <a:r>
                <a:rPr lang="en-US" sz="2598" dirty="0">
                  <a:solidFill>
                    <a:srgbClr val="3B4D6B"/>
                  </a:solidFill>
                  <a:latin typeface="DM Sans"/>
                  <a:ea typeface="DM Sans"/>
                  <a:cs typeface="DM Sans"/>
                  <a:sym typeface="DM Sans"/>
                </a:rPr>
                <a:t>-based lemmatization for better linguistic accuracy</a:t>
              </a:r>
            </a:p>
            <a:p>
              <a:pPr marL="594129" lvl="2" indent="-198043" algn="l">
                <a:lnSpc>
                  <a:spcPts val="3638"/>
                </a:lnSpc>
                <a:buFont typeface="Arial"/>
                <a:buChar char="⚬"/>
              </a:pPr>
              <a:r>
                <a:rPr lang="en-US" sz="2598" dirty="0">
                  <a:solidFill>
                    <a:srgbClr val="3B4D6B"/>
                  </a:solidFill>
                  <a:latin typeface="DM Sans"/>
                  <a:ea typeface="DM Sans"/>
                  <a:cs typeface="DM Sans"/>
                  <a:sym typeface="DM Sans"/>
                </a:rPr>
                <a:t>Support multi-document corpus keyword extraction</a:t>
              </a:r>
            </a:p>
            <a:p>
              <a:pPr marL="594129" lvl="2" indent="-198043" algn="l">
                <a:lnSpc>
                  <a:spcPts val="3638"/>
                </a:lnSpc>
                <a:buFont typeface="Arial"/>
                <a:buChar char="⚬"/>
              </a:pPr>
              <a:r>
                <a:rPr lang="en-US" sz="2598" dirty="0">
                  <a:solidFill>
                    <a:srgbClr val="3B4D6B"/>
                  </a:solidFill>
                  <a:latin typeface="DM Sans"/>
                  <a:ea typeface="DM Sans"/>
                  <a:cs typeface="DM Sans"/>
                  <a:sym typeface="DM Sans"/>
                </a:rPr>
                <a:t>Allow export formats like CSV/JSON</a:t>
              </a:r>
            </a:p>
            <a:p>
              <a:pPr marL="594129" lvl="2" indent="-198043" algn="l">
                <a:lnSpc>
                  <a:spcPts val="3638"/>
                </a:lnSpc>
                <a:buFont typeface="Arial"/>
                <a:buChar char="⚬"/>
              </a:pPr>
              <a:r>
                <a:rPr lang="en-US" sz="2598" dirty="0">
                  <a:solidFill>
                    <a:srgbClr val="3B4D6B"/>
                  </a:solidFill>
                  <a:latin typeface="DM Sans"/>
                  <a:ea typeface="DM Sans"/>
                  <a:cs typeface="DM Sans"/>
                  <a:sym typeface="DM Sans"/>
                </a:rPr>
                <a:t>Add custom </a:t>
              </a:r>
              <a:r>
                <a:rPr lang="en-US" sz="2598" dirty="0" err="1">
                  <a:solidFill>
                    <a:srgbClr val="3B4D6B"/>
                  </a:solidFill>
                  <a:latin typeface="DM Sans"/>
                  <a:ea typeface="DM Sans"/>
                  <a:cs typeface="DM Sans"/>
                  <a:sym typeface="DM Sans"/>
                </a:rPr>
                <a:t>stopword</a:t>
              </a:r>
              <a:r>
                <a:rPr lang="en-US" sz="2598" dirty="0">
                  <a:solidFill>
                    <a:srgbClr val="3B4D6B"/>
                  </a:solidFill>
                  <a:latin typeface="DM Sans"/>
                  <a:ea typeface="DM Sans"/>
                  <a:cs typeface="DM Sans"/>
                  <a:sym typeface="DM Sans"/>
                </a:rPr>
                <a:t> list and UI theme enhancements</a:t>
              </a:r>
            </a:p>
            <a:p>
              <a:pPr algn="l">
                <a:lnSpc>
                  <a:spcPts val="3219"/>
                </a:lnSpc>
              </a:pPr>
              <a:endParaRPr lang="en-US" sz="2598" dirty="0">
                <a:solidFill>
                  <a:srgbClr val="3B4D6B"/>
                </a:solidFill>
                <a:latin typeface="DM Sans"/>
                <a:ea typeface="DM Sans"/>
                <a:cs typeface="DM Sans"/>
                <a:sym typeface="DM Sans"/>
              </a:endParaRPr>
            </a:p>
          </p:txBody>
        </p:sp>
        <p:sp>
          <p:nvSpPr>
            <p:cNvPr id="6" name="TextBox 6"/>
            <p:cNvSpPr txBox="1"/>
            <p:nvPr/>
          </p:nvSpPr>
          <p:spPr>
            <a:xfrm>
              <a:off x="0" y="-47625"/>
              <a:ext cx="10820400" cy="591185"/>
            </a:xfrm>
            <a:prstGeom prst="rect">
              <a:avLst/>
            </a:prstGeom>
          </p:spPr>
          <p:txBody>
            <a:bodyPr lIns="0" tIns="0" rIns="0" bIns="0" rtlCol="0" anchor="t">
              <a:spAutoFit/>
            </a:bodyPr>
            <a:lstStyle/>
            <a:p>
              <a:pPr algn="l">
                <a:lnSpc>
                  <a:spcPts val="3779"/>
                </a:lnSpc>
              </a:pPr>
              <a:r>
                <a:rPr lang="en-US" sz="2700" b="1">
                  <a:solidFill>
                    <a:srgbClr val="6E91C4"/>
                  </a:solidFill>
                  <a:latin typeface="DM Sans Bold"/>
                  <a:ea typeface="DM Sans Bold"/>
                  <a:cs typeface="DM Sans Bold"/>
                  <a:sym typeface="DM Sans Bold"/>
                </a:rPr>
                <a:t>FUTURE SCOPE</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E8FC"/>
        </a:solidFill>
        <a:effectLst/>
      </p:bgPr>
    </p:bg>
    <p:spTree>
      <p:nvGrpSpPr>
        <p:cNvPr id="1" name=""/>
        <p:cNvGrpSpPr/>
        <p:nvPr/>
      </p:nvGrpSpPr>
      <p:grpSpPr>
        <a:xfrm>
          <a:off x="0" y="0"/>
          <a:ext cx="0" cy="0"/>
          <a:chOff x="0" y="0"/>
          <a:chExt cx="0" cy="0"/>
        </a:xfrm>
      </p:grpSpPr>
      <p:sp>
        <p:nvSpPr>
          <p:cNvPr id="2" name="TextBox 2"/>
          <p:cNvSpPr txBox="1"/>
          <p:nvPr/>
        </p:nvSpPr>
        <p:spPr>
          <a:xfrm>
            <a:off x="5562600" y="3952876"/>
            <a:ext cx="7543800" cy="1692771"/>
          </a:xfrm>
          <a:prstGeom prst="rect">
            <a:avLst/>
          </a:prstGeom>
        </p:spPr>
        <p:txBody>
          <a:bodyPr wrap="square" lIns="0" tIns="0" rIns="0" bIns="0" rtlCol="0" anchor="t">
            <a:spAutoFit/>
          </a:bodyPr>
          <a:lstStyle/>
          <a:p>
            <a:pPr algn="l">
              <a:lnSpc>
                <a:spcPts val="13189"/>
              </a:lnSpc>
            </a:pPr>
            <a:r>
              <a:rPr lang="en-US" sz="11991" dirty="0">
                <a:solidFill>
                  <a:srgbClr val="3B4D6B"/>
                </a:solidFill>
                <a:latin typeface="Georgia"/>
                <a:ea typeface="Georgia"/>
                <a:cs typeface="Georgia"/>
                <a:sym typeface="Georgia"/>
              </a:rPr>
              <a:t>Thank You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578</Words>
  <Application>Microsoft Office PowerPoint</Application>
  <PresentationFormat>Custom</PresentationFormat>
  <Paragraphs>84</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DM Sans</vt:lpstr>
      <vt:lpstr>DM Sans Bold</vt:lpstr>
      <vt:lpstr>Calibri</vt:lpstr>
      <vt:lpstr>Georgia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Genai_presentation_pro.pptx</dc:title>
  <dc:creator>christina evangelin</dc:creator>
  <cp:lastModifiedBy>christina evangelin</cp:lastModifiedBy>
  <cp:revision>2</cp:revision>
  <dcterms:created xsi:type="dcterms:W3CDTF">2006-08-16T00:00:00Z</dcterms:created>
  <dcterms:modified xsi:type="dcterms:W3CDTF">2025-11-30T16:56:18Z</dcterms:modified>
  <dc:identifier>DAG6LHwlSto</dc:identifier>
</cp:coreProperties>
</file>